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eague Spartan" charset="1" panose="00000800000000000000"/>
      <p:regular r:id="rId21"/>
    </p:embeddedFont>
    <p:embeddedFont>
      <p:font typeface="Aptos" charset="1" panose="020B0004020202020204"/>
      <p:regular r:id="rId22"/>
    </p:embeddedFont>
    <p:embeddedFont>
      <p:font typeface="Aptos Bold" charset="1" panose="020B0004020202020204"/>
      <p:regular r:id="rId24"/>
    </p:embeddedFont>
    <p:embeddedFont>
      <p:font typeface="IBM Plex Mono Bold" charset="1" panose="020B0809050203000203"/>
      <p:regular r:id="rId28"/>
    </p:embeddedFont>
    <p:embeddedFont>
      <p:font typeface="IBM Plex Mono" charset="1" panose="020B0509050203000203"/>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fonts/font24.fntdata" Type="http://schemas.openxmlformats.org/officeDocument/2006/relationships/font"/><Relationship Id="rId25" Target="notesSlides/notesSlide3.xml" Type="http://schemas.openxmlformats.org/officeDocument/2006/relationships/notesSlide"/><Relationship Id="rId26" Target="notesSlides/notesSlide4.xml" Type="http://schemas.openxmlformats.org/officeDocument/2006/relationships/notesSlide"/><Relationship Id="rId27" Target="notesSlides/notesSlide5.xml" Type="http://schemas.openxmlformats.org/officeDocument/2006/relationships/notesSlide"/><Relationship Id="rId28" Target="fonts/font28.fntdata" Type="http://schemas.openxmlformats.org/officeDocument/2006/relationships/font"/><Relationship Id="rId29" Target="notesSlides/notesSlide6.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Welcome to this presentation on Merge Sort, a classic Divide and Conquer algorithm. Today, we'll explore how it works, its implementation, and why it's important in algorithm design.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Merge Sort was invented by John von Neumann in 1945. It sorts data by splitting arrays into halves, sorting each half, and then merging them in order. It's widely used because of its efficiency and stability.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Divide and Conquer breaks a problem into smaller parts, solves each one, and then combines the results. Merge Sort follows this exactly: divide the array, sort each half, then merge them.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array is split repeatedly until only one element remains in each part. Then, pairs are merged by comparing elements to form sorted lists. This merging continues until the entire array is sorted.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an example with the array [38, 27, 43, 3, 9, 82, 10]. Notice how the array is split into halves down to single elements, then merged step by step into sorted arrays.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pseudocode shows how Merge Sort recursively splits the array and merges the sorted halves. The MERGE function handles merging two sorted subarrays effectively.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Python snippet implements Merge Sort. It recursively splits the list and merges sorted halves, reflecting the pseudocode logic in a simple, readable way.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Merge Sort’s time complexity is O(n log n) in all cases. The recurrence relation shows the division and merging costs, solved using the Master Theorem.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Merge Sort requires extra space proportional to the array size, making it stable but not in-place. It works well with linked lists and external sorting where data doesn’t fit in memory.</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how Merge Sort compares to Quick Sort. Merge Sort is stable and predictable but uses more space. Quick Sort is faster on average and in-place but unstable and worst-case slower.</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Merge Sort’s main strengths are stability and predictable runtime, but it requires extra space. It’s commonly used for sorting large datasets, external storage, and counting inversions.</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Merge Sort is a powerful Divide and Conquer algorithm offering stable, efficient sorting. Thank you for your attention. I’m happy to take any questions now.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32B"/>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0" y="0"/>
            <a:ext cx="8001000" cy="10287000"/>
          </a:xfrm>
          <a:custGeom>
            <a:avLst/>
            <a:gdLst/>
            <a:ahLst/>
            <a:cxnLst/>
            <a:rect r="r" b="b" t="t" l="l"/>
            <a:pathLst>
              <a:path h="10287000" w="8001000">
                <a:moveTo>
                  <a:pt x="0" y="0"/>
                </a:moveTo>
                <a:lnTo>
                  <a:pt x="8001000" y="0"/>
                </a:lnTo>
                <a:lnTo>
                  <a:pt x="8001000" y="10287000"/>
                </a:lnTo>
                <a:lnTo>
                  <a:pt x="0" y="10287000"/>
                </a:lnTo>
                <a:lnTo>
                  <a:pt x="0" y="0"/>
                </a:lnTo>
                <a:close/>
              </a:path>
            </a:pathLst>
          </a:custGeom>
          <a:blipFill>
            <a:blip r:embed="rId3"/>
            <a:stretch>
              <a:fillRect l="0" t="-98" r="0" b="-98"/>
            </a:stretch>
          </a:blipFill>
          <a:ln cap="sq">
            <a:noFill/>
            <a:prstDash val="solid"/>
            <a:miter/>
          </a:ln>
        </p:spPr>
      </p:sp>
      <p:grpSp>
        <p:nvGrpSpPr>
          <p:cNvPr name="Group 3" id="3"/>
          <p:cNvGrpSpPr/>
          <p:nvPr/>
        </p:nvGrpSpPr>
        <p:grpSpPr>
          <a:xfrm rot="0">
            <a:off x="9144000" y="0"/>
            <a:ext cx="3810000" cy="10287000"/>
            <a:chOff x="0" y="0"/>
            <a:chExt cx="5080000" cy="13716000"/>
          </a:xfrm>
        </p:grpSpPr>
        <p:sp>
          <p:nvSpPr>
            <p:cNvPr name="Freeform 4" id="4"/>
            <p:cNvSpPr/>
            <p:nvPr/>
          </p:nvSpPr>
          <p:spPr>
            <a:xfrm flipH="false" flipV="false" rot="0">
              <a:off x="0" y="0"/>
              <a:ext cx="5080000" cy="13716000"/>
            </a:xfrm>
            <a:custGeom>
              <a:avLst/>
              <a:gdLst/>
              <a:ahLst/>
              <a:cxnLst/>
              <a:rect r="r" b="b" t="t" l="l"/>
              <a:pathLst>
                <a:path h="13716000" w="5080000">
                  <a:moveTo>
                    <a:pt x="0" y="0"/>
                  </a:moveTo>
                  <a:lnTo>
                    <a:pt x="5080000" y="0"/>
                  </a:lnTo>
                  <a:lnTo>
                    <a:pt x="5080000" y="13716000"/>
                  </a:lnTo>
                  <a:lnTo>
                    <a:pt x="0" y="13716000"/>
                  </a:lnTo>
                  <a:close/>
                </a:path>
              </a:pathLst>
            </a:custGeom>
            <a:gradFill rotWithShape="true">
              <a:gsLst>
                <a:gs pos="0">
                  <a:srgbClr val="0B132B">
                    <a:alpha val="100000"/>
                  </a:srgbClr>
                </a:gs>
                <a:gs pos="100000">
                  <a:srgbClr val="0B132B">
                    <a:alpha val="0"/>
                  </a:srgbClr>
                </a:gs>
              </a:gsLst>
              <a:lin ang="16200000"/>
            </a:gradFill>
            <a:ln cap="sq">
              <a:noFill/>
              <a:prstDash val="solid"/>
              <a:miter/>
            </a:ln>
          </p:spPr>
        </p:sp>
        <p:sp>
          <p:nvSpPr>
            <p:cNvPr name="TextBox 5" id="5"/>
            <p:cNvSpPr txBox="true"/>
            <p:nvPr/>
          </p:nvSpPr>
          <p:spPr>
            <a:xfrm>
              <a:off x="0" y="-38100"/>
              <a:ext cx="5080000" cy="13754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1752600"/>
            <a:ext cx="9715500" cy="1920621"/>
          </a:xfrm>
          <a:prstGeom prst="rect">
            <a:avLst/>
          </a:prstGeom>
        </p:spPr>
        <p:txBody>
          <a:bodyPr anchor="t" rtlCol="false" tIns="0" lIns="0" bIns="0" rIns="0">
            <a:spAutoFit/>
          </a:bodyPr>
          <a:lstStyle/>
          <a:p>
            <a:pPr algn="l">
              <a:lnSpc>
                <a:spcPts val="7497"/>
              </a:lnSpc>
            </a:pPr>
            <a:r>
              <a:rPr lang="en-US" sz="7350" b="true">
                <a:solidFill>
                  <a:srgbClr val="FFFFFF"/>
                </a:solidFill>
                <a:latin typeface="League Spartan"/>
                <a:ea typeface="League Spartan"/>
                <a:cs typeface="League Spartan"/>
                <a:sym typeface="League Spartan"/>
              </a:rPr>
              <a:t>Merge Sort:</a:t>
            </a:r>
          </a:p>
          <a:p>
            <a:pPr algn="l">
              <a:lnSpc>
                <a:spcPts val="7497"/>
              </a:lnSpc>
            </a:pPr>
            <a:r>
              <a:rPr lang="en-US" sz="7350" b="true">
                <a:solidFill>
                  <a:srgbClr val="FFFFFF"/>
                </a:solidFill>
                <a:latin typeface="League Spartan"/>
                <a:ea typeface="League Spartan"/>
                <a:cs typeface="League Spartan"/>
                <a:sym typeface="League Spartan"/>
              </a:rPr>
              <a:t>Divide and Conquer</a:t>
            </a:r>
          </a:p>
        </p:txBody>
      </p:sp>
      <p:sp>
        <p:nvSpPr>
          <p:cNvPr name="TextBox 7" id="7"/>
          <p:cNvSpPr txBox="true"/>
          <p:nvPr/>
        </p:nvSpPr>
        <p:spPr>
          <a:xfrm rot="0">
            <a:off x="1104900" y="4295775"/>
            <a:ext cx="7429500" cy="401955"/>
          </a:xfrm>
          <a:prstGeom prst="rect">
            <a:avLst/>
          </a:prstGeom>
        </p:spPr>
        <p:txBody>
          <a:bodyPr anchor="t" rtlCol="false" tIns="0" lIns="0" bIns="0" rIns="0">
            <a:spAutoFit/>
          </a:bodyPr>
          <a:lstStyle/>
          <a:p>
            <a:pPr algn="l">
              <a:lnSpc>
                <a:spcPts val="3240"/>
              </a:lnSpc>
            </a:pPr>
            <a:r>
              <a:rPr lang="en-US" sz="2400">
                <a:solidFill>
                  <a:srgbClr val="35D0BA"/>
                </a:solidFill>
                <a:latin typeface="Aptos"/>
                <a:ea typeface="Aptos"/>
                <a:cs typeface="Aptos"/>
                <a:sym typeface="Aptos"/>
              </a:rPr>
              <a:t>Design and Analysis of Algorithms (DAA)</a:t>
            </a:r>
          </a:p>
        </p:txBody>
      </p:sp>
      <p:sp>
        <p:nvSpPr>
          <p:cNvPr name="TextBox 8" id="8"/>
          <p:cNvSpPr txBox="true"/>
          <p:nvPr/>
        </p:nvSpPr>
        <p:spPr>
          <a:xfrm rot="0">
            <a:off x="1104900" y="7781925"/>
            <a:ext cx="7429500" cy="819150"/>
          </a:xfrm>
          <a:prstGeom prst="rect">
            <a:avLst/>
          </a:prstGeom>
        </p:spPr>
        <p:txBody>
          <a:bodyPr anchor="t" rtlCol="false" tIns="0" lIns="0" bIns="0" rIns="0">
            <a:spAutoFit/>
          </a:bodyPr>
          <a:lstStyle/>
          <a:p>
            <a:pPr algn="l">
              <a:lnSpc>
                <a:spcPts val="3374"/>
              </a:lnSpc>
            </a:pPr>
            <a:r>
              <a:rPr lang="en-US" sz="2499">
                <a:solidFill>
                  <a:srgbClr val="FFFFFF"/>
                </a:solidFill>
                <a:latin typeface="Aptos"/>
                <a:ea typeface="Aptos"/>
                <a:cs typeface="Aptos"/>
                <a:sym typeface="Aptos"/>
              </a:rPr>
              <a:t>Mahak Dhanvijay •  PRN 25070521277</a:t>
            </a:r>
          </a:p>
          <a:p>
            <a:pPr algn="l">
              <a:lnSpc>
                <a:spcPts val="3374"/>
              </a:lnSpc>
            </a:pPr>
            <a:r>
              <a:rPr lang="en-US" sz="2499">
                <a:solidFill>
                  <a:srgbClr val="FFFFFF"/>
                </a:solidFill>
                <a:latin typeface="Aptos"/>
                <a:ea typeface="Aptos"/>
                <a:cs typeface="Aptos"/>
                <a:sym typeface="Aptos"/>
              </a:rPr>
              <a:t>SIT Nagpur  •  Semester 3  •  Section E</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7F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17233F"/>
                </a:solidFill>
                <a:latin typeface="League Spartan"/>
                <a:ea typeface="League Spartan"/>
                <a:cs typeface="League Spartan"/>
                <a:sym typeface="League Spartan"/>
              </a:rPr>
              <a:t>Introduction to Merge Sort</a:t>
            </a:r>
          </a:p>
        </p:txBody>
      </p:sp>
      <p:sp>
        <p:nvSpPr>
          <p:cNvPr name="TextBox 3" id="3"/>
          <p:cNvSpPr txBox="true"/>
          <p:nvPr/>
        </p:nvSpPr>
        <p:spPr>
          <a:xfrm rot="0">
            <a:off x="1047750" y="2305050"/>
            <a:ext cx="8382000" cy="884301"/>
          </a:xfrm>
          <a:prstGeom prst="rect">
            <a:avLst/>
          </a:prstGeom>
        </p:spPr>
        <p:txBody>
          <a:bodyPr anchor="t" rtlCol="false" tIns="0" lIns="0" bIns="0" rIns="0">
            <a:spAutoFit/>
          </a:bodyPr>
          <a:lstStyle/>
          <a:p>
            <a:pPr algn="l">
              <a:lnSpc>
                <a:spcPts val="6732"/>
              </a:lnSpc>
            </a:pPr>
            <a:r>
              <a:rPr lang="en-US" sz="6600" b="true">
                <a:solidFill>
                  <a:srgbClr val="17233F"/>
                </a:solidFill>
                <a:latin typeface="League Spartan"/>
                <a:ea typeface="League Spartan"/>
                <a:cs typeface="League Spartan"/>
                <a:sym typeface="League Spartan"/>
              </a:rPr>
              <a:t>Split. Sort. Merge.</a:t>
            </a:r>
          </a:p>
        </p:txBody>
      </p:sp>
      <p:sp>
        <p:nvSpPr>
          <p:cNvPr name="TextBox 4" id="4"/>
          <p:cNvSpPr txBox="true"/>
          <p:nvPr/>
        </p:nvSpPr>
        <p:spPr>
          <a:xfrm rot="0">
            <a:off x="1104900" y="4438650"/>
            <a:ext cx="7239000" cy="811530"/>
          </a:xfrm>
          <a:prstGeom prst="rect">
            <a:avLst/>
          </a:prstGeom>
        </p:spPr>
        <p:txBody>
          <a:bodyPr anchor="t" rtlCol="false" tIns="0" lIns="0" bIns="0" rIns="0">
            <a:spAutoFit/>
          </a:bodyPr>
          <a:lstStyle/>
          <a:p>
            <a:pPr algn="l">
              <a:lnSpc>
                <a:spcPts val="3240"/>
              </a:lnSpc>
            </a:pPr>
            <a:r>
              <a:rPr lang="en-US" sz="2400">
                <a:solidFill>
                  <a:srgbClr val="64708A"/>
                </a:solidFill>
                <a:latin typeface="Aptos"/>
                <a:ea typeface="Aptos"/>
                <a:cs typeface="Aptos"/>
                <a:sym typeface="Aptos"/>
              </a:rPr>
              <a:t>A stable sorting algorithm built on Divide and Conquer — designed for efficient ordering of large datasets.</a:t>
            </a:r>
          </a:p>
        </p:txBody>
      </p:sp>
      <p:sp>
        <p:nvSpPr>
          <p:cNvPr name="TextBox 5" id="5"/>
          <p:cNvSpPr txBox="true"/>
          <p:nvPr/>
        </p:nvSpPr>
        <p:spPr>
          <a:xfrm rot="0">
            <a:off x="11715750" y="2914650"/>
            <a:ext cx="4476750" cy="1514475"/>
          </a:xfrm>
          <a:prstGeom prst="rect">
            <a:avLst/>
          </a:prstGeom>
        </p:spPr>
        <p:txBody>
          <a:bodyPr anchor="t" rtlCol="false" tIns="0" lIns="0" bIns="0" rIns="0">
            <a:spAutoFit/>
          </a:bodyPr>
          <a:lstStyle/>
          <a:p>
            <a:pPr algn="ctr">
              <a:lnSpc>
                <a:spcPts val="11475"/>
              </a:lnSpc>
            </a:pPr>
            <a:r>
              <a:rPr lang="en-US" sz="11250" b="true">
                <a:solidFill>
                  <a:srgbClr val="FF6B6B"/>
                </a:solidFill>
                <a:latin typeface="League Spartan"/>
                <a:ea typeface="League Spartan"/>
                <a:cs typeface="League Spartan"/>
                <a:sym typeface="League Spartan"/>
              </a:rPr>
              <a:t>1945</a:t>
            </a:r>
          </a:p>
        </p:txBody>
      </p:sp>
      <p:sp>
        <p:nvSpPr>
          <p:cNvPr name="TextBox 6" id="6"/>
          <p:cNvSpPr txBox="true"/>
          <p:nvPr/>
        </p:nvSpPr>
        <p:spPr>
          <a:xfrm rot="0">
            <a:off x="11620500" y="4438650"/>
            <a:ext cx="4667250" cy="350520"/>
          </a:xfrm>
          <a:prstGeom prst="rect">
            <a:avLst/>
          </a:prstGeom>
        </p:spPr>
        <p:txBody>
          <a:bodyPr anchor="t" rtlCol="false" tIns="0" lIns="0" bIns="0" rIns="0">
            <a:spAutoFit/>
          </a:bodyPr>
          <a:lstStyle/>
          <a:p>
            <a:pPr algn="ctr">
              <a:lnSpc>
                <a:spcPts val="2835"/>
              </a:lnSpc>
            </a:pPr>
            <a:r>
              <a:rPr lang="en-US" sz="2100">
                <a:solidFill>
                  <a:srgbClr val="17233F"/>
                </a:solidFill>
                <a:latin typeface="Aptos"/>
                <a:ea typeface="Aptos"/>
                <a:cs typeface="Aptos"/>
                <a:sym typeface="Aptos"/>
              </a:rPr>
              <a:t>invented by John von Neumann</a:t>
            </a:r>
          </a:p>
        </p:txBody>
      </p:sp>
      <p:grpSp>
        <p:nvGrpSpPr>
          <p:cNvPr name="Group 7" id="7"/>
          <p:cNvGrpSpPr/>
          <p:nvPr/>
        </p:nvGrpSpPr>
        <p:grpSpPr>
          <a:xfrm rot="0">
            <a:off x="10668000" y="6286500"/>
            <a:ext cx="1809750" cy="609600"/>
            <a:chOff x="0" y="0"/>
            <a:chExt cx="2413000" cy="812800"/>
          </a:xfrm>
        </p:grpSpPr>
        <p:sp>
          <p:nvSpPr>
            <p:cNvPr name="Freeform 8" id="8"/>
            <p:cNvSpPr/>
            <p:nvPr/>
          </p:nvSpPr>
          <p:spPr>
            <a:xfrm flipH="false" flipV="false" rot="0">
              <a:off x="0" y="0"/>
              <a:ext cx="2413000" cy="812800"/>
            </a:xfrm>
            <a:custGeom>
              <a:avLst/>
              <a:gdLst/>
              <a:ahLst/>
              <a:cxnLst/>
              <a:rect r="r" b="b" t="t" l="l"/>
              <a:pathLst>
                <a:path h="812800" w="2413000">
                  <a:moveTo>
                    <a:pt x="120316" y="0"/>
                  </a:moveTo>
                  <a:lnTo>
                    <a:pt x="2292684" y="0"/>
                  </a:lnTo>
                  <a:cubicBezTo>
                    <a:pt x="2324594" y="0"/>
                    <a:pt x="2355197" y="12676"/>
                    <a:pt x="2377760" y="35240"/>
                  </a:cubicBezTo>
                  <a:cubicBezTo>
                    <a:pt x="2400324" y="57803"/>
                    <a:pt x="2413000" y="88406"/>
                    <a:pt x="2413000" y="120316"/>
                  </a:cubicBezTo>
                  <a:lnTo>
                    <a:pt x="2413000" y="692484"/>
                  </a:lnTo>
                  <a:cubicBezTo>
                    <a:pt x="2413000" y="724394"/>
                    <a:pt x="2400324" y="754997"/>
                    <a:pt x="2377760" y="777560"/>
                  </a:cubicBezTo>
                  <a:cubicBezTo>
                    <a:pt x="2355197" y="800124"/>
                    <a:pt x="2324594" y="812800"/>
                    <a:pt x="2292684" y="812800"/>
                  </a:cubicBezTo>
                  <a:lnTo>
                    <a:pt x="120316" y="812800"/>
                  </a:lnTo>
                  <a:cubicBezTo>
                    <a:pt x="88406" y="812800"/>
                    <a:pt x="57803" y="800124"/>
                    <a:pt x="35240" y="777560"/>
                  </a:cubicBezTo>
                  <a:cubicBezTo>
                    <a:pt x="12676" y="754997"/>
                    <a:pt x="0" y="724394"/>
                    <a:pt x="0" y="692484"/>
                  </a:cubicBezTo>
                  <a:lnTo>
                    <a:pt x="0" y="120316"/>
                  </a:lnTo>
                  <a:cubicBezTo>
                    <a:pt x="0" y="88406"/>
                    <a:pt x="12676" y="57803"/>
                    <a:pt x="35240" y="35240"/>
                  </a:cubicBezTo>
                  <a:cubicBezTo>
                    <a:pt x="57803" y="12676"/>
                    <a:pt x="88406" y="0"/>
                    <a:pt x="120316" y="0"/>
                  </a:cubicBezTo>
                  <a:close/>
                </a:path>
              </a:pathLst>
            </a:custGeom>
            <a:solidFill>
              <a:srgbClr val="35D0BA"/>
            </a:solidFill>
            <a:ln cap="sq">
              <a:noFill/>
              <a:prstDash val="solid"/>
              <a:miter/>
            </a:ln>
          </p:spPr>
        </p:sp>
        <p:sp>
          <p:nvSpPr>
            <p:cNvPr name="TextBox 9" id="9"/>
            <p:cNvSpPr txBox="true"/>
            <p:nvPr/>
          </p:nvSpPr>
          <p:spPr>
            <a:xfrm>
              <a:off x="0" y="-38100"/>
              <a:ext cx="2413000" cy="850900"/>
            </a:xfrm>
            <a:prstGeom prst="rect">
              <a:avLst/>
            </a:prstGeom>
          </p:spPr>
          <p:txBody>
            <a:bodyPr anchor="ctr" rtlCol="false" tIns="50800" lIns="50800" bIns="50800" rIns="50800"/>
            <a:lstStyle/>
            <a:p>
              <a:pPr algn="ctr">
                <a:lnSpc>
                  <a:spcPts val="2520"/>
                </a:lnSpc>
              </a:pPr>
              <a:r>
                <a:rPr lang="en-US" sz="1800" b="true">
                  <a:solidFill>
                    <a:srgbClr val="0B132B"/>
                  </a:solidFill>
                  <a:latin typeface="Aptos Bold"/>
                  <a:ea typeface="Aptos Bold"/>
                  <a:cs typeface="Aptos Bold"/>
                  <a:sym typeface="Aptos Bold"/>
                </a:rPr>
                <a:t>DIVIDE</a:t>
              </a:r>
            </a:p>
          </p:txBody>
        </p:sp>
      </p:grpSp>
      <p:grpSp>
        <p:nvGrpSpPr>
          <p:cNvPr name="Group 10" id="10"/>
          <p:cNvGrpSpPr/>
          <p:nvPr/>
        </p:nvGrpSpPr>
        <p:grpSpPr>
          <a:xfrm rot="0">
            <a:off x="12763500" y="6286500"/>
            <a:ext cx="1619250" cy="609600"/>
            <a:chOff x="0" y="0"/>
            <a:chExt cx="2159000" cy="812800"/>
          </a:xfrm>
        </p:grpSpPr>
        <p:sp>
          <p:nvSpPr>
            <p:cNvPr name="Freeform 11" id="11"/>
            <p:cNvSpPr/>
            <p:nvPr/>
          </p:nvSpPr>
          <p:spPr>
            <a:xfrm flipH="false" flipV="false" rot="0">
              <a:off x="0" y="0"/>
              <a:ext cx="2159000" cy="812800"/>
            </a:xfrm>
            <a:custGeom>
              <a:avLst/>
              <a:gdLst/>
              <a:ahLst/>
              <a:cxnLst/>
              <a:rect r="r" b="b" t="t" l="l"/>
              <a:pathLst>
                <a:path h="812800" w="2159000">
                  <a:moveTo>
                    <a:pt x="134471" y="0"/>
                  </a:moveTo>
                  <a:lnTo>
                    <a:pt x="2024529" y="0"/>
                  </a:lnTo>
                  <a:cubicBezTo>
                    <a:pt x="2060193" y="0"/>
                    <a:pt x="2094396" y="14167"/>
                    <a:pt x="2119614" y="39386"/>
                  </a:cubicBezTo>
                  <a:cubicBezTo>
                    <a:pt x="2144833" y="64604"/>
                    <a:pt x="2159000" y="98807"/>
                    <a:pt x="2159000" y="134471"/>
                  </a:cubicBezTo>
                  <a:lnTo>
                    <a:pt x="2159000" y="678329"/>
                  </a:lnTo>
                  <a:cubicBezTo>
                    <a:pt x="2159000" y="713993"/>
                    <a:pt x="2144833" y="748196"/>
                    <a:pt x="2119614" y="773414"/>
                  </a:cubicBezTo>
                  <a:cubicBezTo>
                    <a:pt x="2094396" y="798633"/>
                    <a:pt x="2060193" y="812800"/>
                    <a:pt x="2024529" y="812800"/>
                  </a:cubicBezTo>
                  <a:lnTo>
                    <a:pt x="134471" y="812800"/>
                  </a:lnTo>
                  <a:cubicBezTo>
                    <a:pt x="98807" y="812800"/>
                    <a:pt x="64604" y="798633"/>
                    <a:pt x="39386" y="773414"/>
                  </a:cubicBezTo>
                  <a:cubicBezTo>
                    <a:pt x="14167" y="748196"/>
                    <a:pt x="0" y="713993"/>
                    <a:pt x="0" y="678329"/>
                  </a:cubicBezTo>
                  <a:lnTo>
                    <a:pt x="0" y="134471"/>
                  </a:lnTo>
                  <a:cubicBezTo>
                    <a:pt x="0" y="98807"/>
                    <a:pt x="14167" y="64604"/>
                    <a:pt x="39386" y="39386"/>
                  </a:cubicBezTo>
                  <a:cubicBezTo>
                    <a:pt x="64604" y="14167"/>
                    <a:pt x="98807" y="0"/>
                    <a:pt x="134471" y="0"/>
                  </a:cubicBezTo>
                  <a:close/>
                </a:path>
              </a:pathLst>
            </a:custGeom>
            <a:solidFill>
              <a:srgbClr val="16213E"/>
            </a:solidFill>
            <a:ln cap="sq">
              <a:noFill/>
              <a:prstDash val="solid"/>
              <a:miter/>
            </a:ln>
          </p:spPr>
        </p:sp>
        <p:sp>
          <p:nvSpPr>
            <p:cNvPr name="TextBox 12" id="12"/>
            <p:cNvSpPr txBox="true"/>
            <p:nvPr/>
          </p:nvSpPr>
          <p:spPr>
            <a:xfrm>
              <a:off x="0" y="-38100"/>
              <a:ext cx="2159000" cy="8509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SORT</a:t>
              </a:r>
            </a:p>
          </p:txBody>
        </p:sp>
      </p:grpSp>
      <p:grpSp>
        <p:nvGrpSpPr>
          <p:cNvPr name="Group 13" id="13"/>
          <p:cNvGrpSpPr/>
          <p:nvPr/>
        </p:nvGrpSpPr>
        <p:grpSpPr>
          <a:xfrm rot="0">
            <a:off x="14668500" y="6286500"/>
            <a:ext cx="1809750" cy="609600"/>
            <a:chOff x="0" y="0"/>
            <a:chExt cx="2413000" cy="812800"/>
          </a:xfrm>
        </p:grpSpPr>
        <p:sp>
          <p:nvSpPr>
            <p:cNvPr name="Freeform 14" id="14"/>
            <p:cNvSpPr/>
            <p:nvPr/>
          </p:nvSpPr>
          <p:spPr>
            <a:xfrm flipH="false" flipV="false" rot="0">
              <a:off x="0" y="0"/>
              <a:ext cx="2413000" cy="812800"/>
            </a:xfrm>
            <a:custGeom>
              <a:avLst/>
              <a:gdLst/>
              <a:ahLst/>
              <a:cxnLst/>
              <a:rect r="r" b="b" t="t" l="l"/>
              <a:pathLst>
                <a:path h="812800" w="2413000">
                  <a:moveTo>
                    <a:pt x="120316" y="0"/>
                  </a:moveTo>
                  <a:lnTo>
                    <a:pt x="2292684" y="0"/>
                  </a:lnTo>
                  <a:cubicBezTo>
                    <a:pt x="2324594" y="0"/>
                    <a:pt x="2355197" y="12676"/>
                    <a:pt x="2377760" y="35240"/>
                  </a:cubicBezTo>
                  <a:cubicBezTo>
                    <a:pt x="2400324" y="57803"/>
                    <a:pt x="2413000" y="88406"/>
                    <a:pt x="2413000" y="120316"/>
                  </a:cubicBezTo>
                  <a:lnTo>
                    <a:pt x="2413000" y="692484"/>
                  </a:lnTo>
                  <a:cubicBezTo>
                    <a:pt x="2413000" y="724394"/>
                    <a:pt x="2400324" y="754997"/>
                    <a:pt x="2377760" y="777560"/>
                  </a:cubicBezTo>
                  <a:cubicBezTo>
                    <a:pt x="2355197" y="800124"/>
                    <a:pt x="2324594" y="812800"/>
                    <a:pt x="2292684" y="812800"/>
                  </a:cubicBezTo>
                  <a:lnTo>
                    <a:pt x="120316" y="812800"/>
                  </a:lnTo>
                  <a:cubicBezTo>
                    <a:pt x="88406" y="812800"/>
                    <a:pt x="57803" y="800124"/>
                    <a:pt x="35240" y="777560"/>
                  </a:cubicBezTo>
                  <a:cubicBezTo>
                    <a:pt x="12676" y="754997"/>
                    <a:pt x="0" y="724394"/>
                    <a:pt x="0" y="692484"/>
                  </a:cubicBezTo>
                  <a:lnTo>
                    <a:pt x="0" y="120316"/>
                  </a:lnTo>
                  <a:cubicBezTo>
                    <a:pt x="0" y="88406"/>
                    <a:pt x="12676" y="57803"/>
                    <a:pt x="35240" y="35240"/>
                  </a:cubicBezTo>
                  <a:cubicBezTo>
                    <a:pt x="57803" y="12676"/>
                    <a:pt x="88406" y="0"/>
                    <a:pt x="120316" y="0"/>
                  </a:cubicBezTo>
                  <a:close/>
                </a:path>
              </a:pathLst>
            </a:custGeom>
            <a:solidFill>
              <a:srgbClr val="FF6B6B"/>
            </a:solidFill>
            <a:ln cap="sq">
              <a:noFill/>
              <a:prstDash val="solid"/>
              <a:miter/>
            </a:ln>
          </p:spPr>
        </p:sp>
        <p:sp>
          <p:nvSpPr>
            <p:cNvPr name="TextBox 15" id="15"/>
            <p:cNvSpPr txBox="true"/>
            <p:nvPr/>
          </p:nvSpPr>
          <p:spPr>
            <a:xfrm>
              <a:off x="0" y="-38100"/>
              <a:ext cx="2413000" cy="850900"/>
            </a:xfrm>
            <a:prstGeom prst="rect">
              <a:avLst/>
            </a:prstGeom>
          </p:spPr>
          <p:txBody>
            <a:bodyPr anchor="ctr" rtlCol="false" tIns="50800" lIns="50800" bIns="50800" rIns="50800"/>
            <a:lstStyle/>
            <a:p>
              <a:pPr algn="ctr">
                <a:lnSpc>
                  <a:spcPts val="2520"/>
                </a:lnSpc>
              </a:pPr>
              <a:r>
                <a:rPr lang="en-US" sz="1800" b="true">
                  <a:solidFill>
                    <a:srgbClr val="FFFFFF"/>
                  </a:solidFill>
                  <a:latin typeface="Aptos Bold"/>
                  <a:ea typeface="Aptos Bold"/>
                  <a:cs typeface="Aptos Bold"/>
                  <a:sym typeface="Aptos Bold"/>
                </a:rPr>
                <a:t>MERGE</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0B132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FFFFFF"/>
                </a:solidFill>
                <a:latin typeface="League Spartan"/>
                <a:ea typeface="League Spartan"/>
                <a:cs typeface="League Spartan"/>
                <a:sym typeface="League Spartan"/>
              </a:rPr>
              <a:t>Divide and Conquer Paradigm</a:t>
            </a:r>
          </a:p>
        </p:txBody>
      </p:sp>
      <p:grpSp>
        <p:nvGrpSpPr>
          <p:cNvPr name="Group 3" id="3"/>
          <p:cNvGrpSpPr/>
          <p:nvPr/>
        </p:nvGrpSpPr>
        <p:grpSpPr>
          <a:xfrm rot="0">
            <a:off x="2476500" y="2857500"/>
            <a:ext cx="2571750" cy="1428750"/>
            <a:chOff x="0" y="0"/>
            <a:chExt cx="3429000" cy="1905000"/>
          </a:xfrm>
        </p:grpSpPr>
        <p:sp>
          <p:nvSpPr>
            <p:cNvPr name="Freeform 4" id="4"/>
            <p:cNvSpPr/>
            <p:nvPr/>
          </p:nvSpPr>
          <p:spPr>
            <a:xfrm flipH="false" flipV="false" rot="0">
              <a:off x="0" y="0"/>
              <a:ext cx="3429000" cy="1905000"/>
            </a:xfrm>
            <a:custGeom>
              <a:avLst/>
              <a:gdLst/>
              <a:ahLst/>
              <a:cxnLst/>
              <a:rect r="r" b="b" t="t" l="l"/>
              <a:pathLst>
                <a:path h="1905000" w="3429000">
                  <a:moveTo>
                    <a:pt x="112889" y="0"/>
                  </a:moveTo>
                  <a:lnTo>
                    <a:pt x="3316111" y="0"/>
                  </a:lnTo>
                  <a:cubicBezTo>
                    <a:pt x="3378458" y="0"/>
                    <a:pt x="3429000" y="50542"/>
                    <a:pt x="3429000" y="112889"/>
                  </a:cubicBezTo>
                  <a:lnTo>
                    <a:pt x="3429000" y="1792111"/>
                  </a:lnTo>
                  <a:cubicBezTo>
                    <a:pt x="3429000" y="1854458"/>
                    <a:pt x="3378458" y="1905000"/>
                    <a:pt x="3316111" y="1905000"/>
                  </a:cubicBezTo>
                  <a:lnTo>
                    <a:pt x="112889" y="1905000"/>
                  </a:lnTo>
                  <a:cubicBezTo>
                    <a:pt x="50542" y="1905000"/>
                    <a:pt x="0" y="1854458"/>
                    <a:pt x="0" y="1792111"/>
                  </a:cubicBezTo>
                  <a:lnTo>
                    <a:pt x="0" y="112889"/>
                  </a:lnTo>
                  <a:cubicBezTo>
                    <a:pt x="0" y="50542"/>
                    <a:pt x="50542" y="0"/>
                    <a:pt x="112889" y="0"/>
                  </a:cubicBezTo>
                  <a:close/>
                </a:path>
              </a:pathLst>
            </a:custGeom>
            <a:solidFill>
              <a:srgbClr val="35D0BA"/>
            </a:solidFill>
            <a:ln cap="rnd">
              <a:noFill/>
              <a:prstDash val="solid"/>
              <a:round/>
            </a:ln>
          </p:spPr>
        </p:sp>
        <p:sp>
          <p:nvSpPr>
            <p:cNvPr name="TextBox 5" id="5"/>
            <p:cNvSpPr txBox="true"/>
            <p:nvPr/>
          </p:nvSpPr>
          <p:spPr>
            <a:xfrm>
              <a:off x="0" y="-47625"/>
              <a:ext cx="3429000" cy="1952625"/>
            </a:xfrm>
            <a:prstGeom prst="rect">
              <a:avLst/>
            </a:prstGeom>
          </p:spPr>
          <p:txBody>
            <a:bodyPr anchor="ctr" rtlCol="false" tIns="50800" lIns="50800" bIns="50800" rIns="50800"/>
            <a:lstStyle/>
            <a:p>
              <a:pPr algn="ctr">
                <a:lnSpc>
                  <a:spcPts val="3149"/>
                </a:lnSpc>
              </a:pPr>
              <a:r>
                <a:rPr lang="en-US" sz="2250" b="true">
                  <a:solidFill>
                    <a:srgbClr val="0B132B"/>
                  </a:solidFill>
                  <a:latin typeface="League Spartan"/>
                  <a:ea typeface="League Spartan"/>
                  <a:cs typeface="League Spartan"/>
                  <a:sym typeface="League Spartan"/>
                </a:rPr>
                <a:t>1  DIVIDE</a:t>
              </a:r>
            </a:p>
          </p:txBody>
        </p:sp>
      </p:grpSp>
      <p:sp>
        <p:nvSpPr>
          <p:cNvPr name="TextBox 6" id="6"/>
          <p:cNvSpPr txBox="true"/>
          <p:nvPr/>
        </p:nvSpPr>
        <p:spPr>
          <a:xfrm rot="0">
            <a:off x="1714500" y="5305425"/>
            <a:ext cx="4095750" cy="747713"/>
          </a:xfrm>
          <a:prstGeom prst="rect">
            <a:avLst/>
          </a:prstGeom>
        </p:spPr>
        <p:txBody>
          <a:bodyPr anchor="t" rtlCol="false" tIns="0" lIns="0" bIns="0" rIns="0">
            <a:spAutoFit/>
          </a:bodyPr>
          <a:lstStyle/>
          <a:p>
            <a:pPr algn="ctr">
              <a:lnSpc>
                <a:spcPts val="3037"/>
              </a:lnSpc>
            </a:pPr>
            <a:r>
              <a:rPr lang="en-US" sz="2250">
                <a:solidFill>
                  <a:srgbClr val="FFFFFF"/>
                </a:solidFill>
                <a:latin typeface="Aptos"/>
                <a:ea typeface="Aptos"/>
                <a:cs typeface="Aptos"/>
                <a:sym typeface="Aptos"/>
              </a:rPr>
              <a:t>Split into smaller</a:t>
            </a:r>
          </a:p>
          <a:p>
            <a:pPr algn="ctr">
              <a:lnSpc>
                <a:spcPts val="3037"/>
              </a:lnSpc>
            </a:pPr>
            <a:r>
              <a:rPr lang="en-US" sz="2250">
                <a:solidFill>
                  <a:srgbClr val="FFFFFF"/>
                </a:solidFill>
                <a:latin typeface="Aptos"/>
                <a:ea typeface="Aptos"/>
                <a:cs typeface="Aptos"/>
                <a:sym typeface="Aptos"/>
              </a:rPr>
              <a:t>subproblems</a:t>
            </a:r>
          </a:p>
        </p:txBody>
      </p:sp>
      <p:sp>
        <p:nvSpPr>
          <p:cNvPr name="AutoShape 7" id="7"/>
          <p:cNvSpPr/>
          <p:nvPr/>
        </p:nvSpPr>
        <p:spPr>
          <a:xfrm>
            <a:off x="5334000" y="3571875"/>
            <a:ext cx="1905000" cy="0"/>
          </a:xfrm>
          <a:prstGeom prst="line">
            <a:avLst/>
          </a:prstGeom>
          <a:ln cap="rnd" w="57150">
            <a:solidFill>
              <a:srgbClr val="FFFFFF"/>
            </a:solidFill>
            <a:prstDash val="solid"/>
            <a:headEnd type="none" len="sm" w="sm"/>
            <a:tailEnd type="none" len="sm" w="sm"/>
          </a:ln>
        </p:spPr>
      </p:sp>
      <p:grpSp>
        <p:nvGrpSpPr>
          <p:cNvPr name="Group 8" id="8"/>
          <p:cNvGrpSpPr/>
          <p:nvPr/>
        </p:nvGrpSpPr>
        <p:grpSpPr>
          <a:xfrm rot="0">
            <a:off x="7524750" y="2857500"/>
            <a:ext cx="2571750" cy="1428750"/>
            <a:chOff x="0" y="0"/>
            <a:chExt cx="3429000" cy="1905000"/>
          </a:xfrm>
        </p:grpSpPr>
        <p:sp>
          <p:nvSpPr>
            <p:cNvPr name="Freeform 9" id="9"/>
            <p:cNvSpPr/>
            <p:nvPr/>
          </p:nvSpPr>
          <p:spPr>
            <a:xfrm flipH="false" flipV="false" rot="0">
              <a:off x="0" y="0"/>
              <a:ext cx="3429000" cy="1905000"/>
            </a:xfrm>
            <a:custGeom>
              <a:avLst/>
              <a:gdLst/>
              <a:ahLst/>
              <a:cxnLst/>
              <a:rect r="r" b="b" t="t" l="l"/>
              <a:pathLst>
                <a:path h="1905000" w="3429000">
                  <a:moveTo>
                    <a:pt x="112889" y="0"/>
                  </a:moveTo>
                  <a:lnTo>
                    <a:pt x="3316111" y="0"/>
                  </a:lnTo>
                  <a:cubicBezTo>
                    <a:pt x="3378458" y="0"/>
                    <a:pt x="3429000" y="50542"/>
                    <a:pt x="3429000" y="112889"/>
                  </a:cubicBezTo>
                  <a:lnTo>
                    <a:pt x="3429000" y="1792111"/>
                  </a:lnTo>
                  <a:cubicBezTo>
                    <a:pt x="3429000" y="1854458"/>
                    <a:pt x="3378458" y="1905000"/>
                    <a:pt x="3316111" y="1905000"/>
                  </a:cubicBezTo>
                  <a:lnTo>
                    <a:pt x="112889" y="1905000"/>
                  </a:lnTo>
                  <a:cubicBezTo>
                    <a:pt x="50542" y="1905000"/>
                    <a:pt x="0" y="1854458"/>
                    <a:pt x="0" y="1792111"/>
                  </a:cubicBezTo>
                  <a:lnTo>
                    <a:pt x="0" y="112889"/>
                  </a:lnTo>
                  <a:cubicBezTo>
                    <a:pt x="0" y="50542"/>
                    <a:pt x="50542" y="0"/>
                    <a:pt x="112889" y="0"/>
                  </a:cubicBezTo>
                  <a:close/>
                </a:path>
              </a:pathLst>
            </a:custGeom>
            <a:solidFill>
              <a:srgbClr val="FF6B6B"/>
            </a:solidFill>
            <a:ln cap="rnd">
              <a:noFill/>
              <a:prstDash val="solid"/>
              <a:round/>
            </a:ln>
          </p:spPr>
        </p:sp>
        <p:sp>
          <p:nvSpPr>
            <p:cNvPr name="TextBox 10" id="10"/>
            <p:cNvSpPr txBox="true"/>
            <p:nvPr/>
          </p:nvSpPr>
          <p:spPr>
            <a:xfrm>
              <a:off x="0" y="-47625"/>
              <a:ext cx="3429000" cy="1952625"/>
            </a:xfrm>
            <a:prstGeom prst="rect">
              <a:avLst/>
            </a:prstGeom>
          </p:spPr>
          <p:txBody>
            <a:bodyPr anchor="ctr" rtlCol="false" tIns="50800" lIns="50800" bIns="50800" rIns="50800"/>
            <a:lstStyle/>
            <a:p>
              <a:pPr algn="ctr">
                <a:lnSpc>
                  <a:spcPts val="3149"/>
                </a:lnSpc>
              </a:pPr>
              <a:r>
                <a:rPr lang="en-US" sz="2250" b="true">
                  <a:solidFill>
                    <a:srgbClr val="0B132B"/>
                  </a:solidFill>
                  <a:latin typeface="League Spartan"/>
                  <a:ea typeface="League Spartan"/>
                  <a:cs typeface="League Spartan"/>
                  <a:sym typeface="League Spartan"/>
                </a:rPr>
                <a:t>2  CONQUER</a:t>
              </a:r>
            </a:p>
          </p:txBody>
        </p:sp>
      </p:grpSp>
      <p:sp>
        <p:nvSpPr>
          <p:cNvPr name="TextBox 11" id="11"/>
          <p:cNvSpPr txBox="true"/>
          <p:nvPr/>
        </p:nvSpPr>
        <p:spPr>
          <a:xfrm rot="0">
            <a:off x="6762750" y="5305425"/>
            <a:ext cx="4095750" cy="747713"/>
          </a:xfrm>
          <a:prstGeom prst="rect">
            <a:avLst/>
          </a:prstGeom>
        </p:spPr>
        <p:txBody>
          <a:bodyPr anchor="t" rtlCol="false" tIns="0" lIns="0" bIns="0" rIns="0">
            <a:spAutoFit/>
          </a:bodyPr>
          <a:lstStyle/>
          <a:p>
            <a:pPr algn="ctr">
              <a:lnSpc>
                <a:spcPts val="3037"/>
              </a:lnSpc>
            </a:pPr>
            <a:r>
              <a:rPr lang="en-US" sz="2250">
                <a:solidFill>
                  <a:srgbClr val="FFFFFF"/>
                </a:solidFill>
                <a:latin typeface="Aptos"/>
                <a:ea typeface="Aptos"/>
                <a:cs typeface="Aptos"/>
                <a:sym typeface="Aptos"/>
              </a:rPr>
              <a:t>Solve recursively</a:t>
            </a:r>
          </a:p>
          <a:p>
            <a:pPr algn="ctr">
              <a:lnSpc>
                <a:spcPts val="3037"/>
              </a:lnSpc>
            </a:pPr>
            <a:r>
              <a:rPr lang="en-US" sz="2250">
                <a:solidFill>
                  <a:srgbClr val="FFFFFF"/>
                </a:solidFill>
                <a:latin typeface="Aptos"/>
                <a:ea typeface="Aptos"/>
                <a:cs typeface="Aptos"/>
                <a:sym typeface="Aptos"/>
              </a:rPr>
              <a:t>from the base case</a:t>
            </a:r>
          </a:p>
        </p:txBody>
      </p:sp>
      <p:sp>
        <p:nvSpPr>
          <p:cNvPr name="AutoShape 12" id="12"/>
          <p:cNvSpPr/>
          <p:nvPr/>
        </p:nvSpPr>
        <p:spPr>
          <a:xfrm>
            <a:off x="10382250" y="3571875"/>
            <a:ext cx="1905000" cy="0"/>
          </a:xfrm>
          <a:prstGeom prst="line">
            <a:avLst/>
          </a:prstGeom>
          <a:ln cap="rnd" w="57150">
            <a:solidFill>
              <a:srgbClr val="FFFFFF"/>
            </a:solidFill>
            <a:prstDash val="solid"/>
            <a:headEnd type="none" len="sm" w="sm"/>
            <a:tailEnd type="none" len="sm" w="sm"/>
          </a:ln>
        </p:spPr>
      </p:sp>
      <p:grpSp>
        <p:nvGrpSpPr>
          <p:cNvPr name="Group 13" id="13"/>
          <p:cNvGrpSpPr/>
          <p:nvPr/>
        </p:nvGrpSpPr>
        <p:grpSpPr>
          <a:xfrm rot="0">
            <a:off x="12573000" y="2857500"/>
            <a:ext cx="2571750" cy="1428750"/>
            <a:chOff x="0" y="0"/>
            <a:chExt cx="3429000" cy="1905000"/>
          </a:xfrm>
        </p:grpSpPr>
        <p:sp>
          <p:nvSpPr>
            <p:cNvPr name="Freeform 14" id="14"/>
            <p:cNvSpPr/>
            <p:nvPr/>
          </p:nvSpPr>
          <p:spPr>
            <a:xfrm flipH="false" flipV="false" rot="0">
              <a:off x="0" y="0"/>
              <a:ext cx="3429000" cy="1905000"/>
            </a:xfrm>
            <a:custGeom>
              <a:avLst/>
              <a:gdLst/>
              <a:ahLst/>
              <a:cxnLst/>
              <a:rect r="r" b="b" t="t" l="l"/>
              <a:pathLst>
                <a:path h="1905000" w="3429000">
                  <a:moveTo>
                    <a:pt x="112889" y="0"/>
                  </a:moveTo>
                  <a:lnTo>
                    <a:pt x="3316111" y="0"/>
                  </a:lnTo>
                  <a:cubicBezTo>
                    <a:pt x="3378458" y="0"/>
                    <a:pt x="3429000" y="50542"/>
                    <a:pt x="3429000" y="112889"/>
                  </a:cubicBezTo>
                  <a:lnTo>
                    <a:pt x="3429000" y="1792111"/>
                  </a:lnTo>
                  <a:cubicBezTo>
                    <a:pt x="3429000" y="1854458"/>
                    <a:pt x="3378458" y="1905000"/>
                    <a:pt x="3316111" y="1905000"/>
                  </a:cubicBezTo>
                  <a:lnTo>
                    <a:pt x="112889" y="1905000"/>
                  </a:lnTo>
                  <a:cubicBezTo>
                    <a:pt x="50542" y="1905000"/>
                    <a:pt x="0" y="1854458"/>
                    <a:pt x="0" y="1792111"/>
                  </a:cubicBezTo>
                  <a:lnTo>
                    <a:pt x="0" y="112889"/>
                  </a:lnTo>
                  <a:cubicBezTo>
                    <a:pt x="0" y="50542"/>
                    <a:pt x="50542" y="0"/>
                    <a:pt x="112889" y="0"/>
                  </a:cubicBezTo>
                  <a:close/>
                </a:path>
              </a:pathLst>
            </a:custGeom>
            <a:solidFill>
              <a:srgbClr val="35D0BA"/>
            </a:solidFill>
            <a:ln cap="rnd">
              <a:noFill/>
              <a:prstDash val="solid"/>
              <a:round/>
            </a:ln>
          </p:spPr>
        </p:sp>
        <p:sp>
          <p:nvSpPr>
            <p:cNvPr name="TextBox 15" id="15"/>
            <p:cNvSpPr txBox="true"/>
            <p:nvPr/>
          </p:nvSpPr>
          <p:spPr>
            <a:xfrm>
              <a:off x="0" y="-47625"/>
              <a:ext cx="3429000" cy="1952625"/>
            </a:xfrm>
            <a:prstGeom prst="rect">
              <a:avLst/>
            </a:prstGeom>
          </p:spPr>
          <p:txBody>
            <a:bodyPr anchor="ctr" rtlCol="false" tIns="50800" lIns="50800" bIns="50800" rIns="50800"/>
            <a:lstStyle/>
            <a:p>
              <a:pPr algn="ctr">
                <a:lnSpc>
                  <a:spcPts val="3149"/>
                </a:lnSpc>
              </a:pPr>
              <a:r>
                <a:rPr lang="en-US" sz="2250" b="true">
                  <a:solidFill>
                    <a:srgbClr val="0B132B"/>
                  </a:solidFill>
                  <a:latin typeface="League Spartan"/>
                  <a:ea typeface="League Spartan"/>
                  <a:cs typeface="League Spartan"/>
                  <a:sym typeface="League Spartan"/>
                </a:rPr>
                <a:t>3  COMBINE</a:t>
              </a:r>
            </a:p>
          </p:txBody>
        </p:sp>
      </p:grpSp>
      <p:sp>
        <p:nvSpPr>
          <p:cNvPr name="TextBox 16" id="16"/>
          <p:cNvSpPr txBox="true"/>
          <p:nvPr/>
        </p:nvSpPr>
        <p:spPr>
          <a:xfrm rot="0">
            <a:off x="11811000" y="5305425"/>
            <a:ext cx="4095750" cy="747713"/>
          </a:xfrm>
          <a:prstGeom prst="rect">
            <a:avLst/>
          </a:prstGeom>
        </p:spPr>
        <p:txBody>
          <a:bodyPr anchor="t" rtlCol="false" tIns="0" lIns="0" bIns="0" rIns="0">
            <a:spAutoFit/>
          </a:bodyPr>
          <a:lstStyle/>
          <a:p>
            <a:pPr algn="ctr">
              <a:lnSpc>
                <a:spcPts val="3037"/>
              </a:lnSpc>
            </a:pPr>
            <a:r>
              <a:rPr lang="en-US" sz="2250">
                <a:solidFill>
                  <a:srgbClr val="FFFFFF"/>
                </a:solidFill>
                <a:latin typeface="Aptos"/>
                <a:ea typeface="Aptos"/>
                <a:cs typeface="Aptos"/>
                <a:sym typeface="Aptos"/>
              </a:rPr>
              <a:t>Merge solutions into</a:t>
            </a:r>
          </a:p>
          <a:p>
            <a:pPr algn="ctr">
              <a:lnSpc>
                <a:spcPts val="3037"/>
              </a:lnSpc>
            </a:pPr>
            <a:r>
              <a:rPr lang="en-US" sz="2250">
                <a:solidFill>
                  <a:srgbClr val="FFFFFF"/>
                </a:solidFill>
                <a:latin typeface="Aptos"/>
                <a:ea typeface="Aptos"/>
                <a:cs typeface="Aptos"/>
                <a:sym typeface="Aptos"/>
              </a:rPr>
              <a:t>the final answer</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5F7F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17233F"/>
                </a:solidFill>
                <a:latin typeface="League Spartan"/>
                <a:ea typeface="League Spartan"/>
                <a:cs typeface="League Spartan"/>
                <a:sym typeface="League Spartan"/>
              </a:rPr>
              <a:t>How Merge Sort Works</a:t>
            </a:r>
          </a:p>
        </p:txBody>
      </p:sp>
      <p:grpSp>
        <p:nvGrpSpPr>
          <p:cNvPr name="Group 3" id="3"/>
          <p:cNvGrpSpPr/>
          <p:nvPr/>
        </p:nvGrpSpPr>
        <p:grpSpPr>
          <a:xfrm rot="0">
            <a:off x="1047750" y="2143125"/>
            <a:ext cx="4191000" cy="76200"/>
            <a:chOff x="0" y="0"/>
            <a:chExt cx="5588000" cy="101600"/>
          </a:xfrm>
        </p:grpSpPr>
        <p:sp>
          <p:nvSpPr>
            <p:cNvPr name="Freeform 4" id="4"/>
            <p:cNvSpPr/>
            <p:nvPr/>
          </p:nvSpPr>
          <p:spPr>
            <a:xfrm flipH="false" flipV="false" rot="0">
              <a:off x="0" y="0"/>
              <a:ext cx="5588000" cy="101600"/>
            </a:xfrm>
            <a:custGeom>
              <a:avLst/>
              <a:gdLst/>
              <a:ahLst/>
              <a:cxnLst/>
              <a:rect r="r" b="b" t="t" l="l"/>
              <a:pathLst>
                <a:path h="101600" w="5588000">
                  <a:moveTo>
                    <a:pt x="0" y="0"/>
                  </a:moveTo>
                  <a:lnTo>
                    <a:pt x="5588000" y="0"/>
                  </a:lnTo>
                  <a:lnTo>
                    <a:pt x="5588000" y="101600"/>
                  </a:lnTo>
                  <a:lnTo>
                    <a:pt x="0" y="101600"/>
                  </a:lnTo>
                  <a:close/>
                </a:path>
              </a:pathLst>
            </a:custGeom>
            <a:solidFill>
              <a:srgbClr val="35D0BA"/>
            </a:solidFill>
            <a:ln cap="sq">
              <a:noFill/>
              <a:prstDash val="solid"/>
              <a:miter/>
            </a:ln>
          </p:spPr>
        </p:sp>
        <p:sp>
          <p:nvSpPr>
            <p:cNvPr name="TextBox 5" id="5"/>
            <p:cNvSpPr txBox="true"/>
            <p:nvPr/>
          </p:nvSpPr>
          <p:spPr>
            <a:xfrm>
              <a:off x="0" y="-38100"/>
              <a:ext cx="5588000" cy="1397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2600325"/>
            <a:ext cx="1428750" cy="964692"/>
          </a:xfrm>
          <a:prstGeom prst="rect">
            <a:avLst/>
          </a:prstGeom>
        </p:spPr>
        <p:txBody>
          <a:bodyPr anchor="t" rtlCol="false" tIns="0" lIns="0" bIns="0" rIns="0">
            <a:spAutoFit/>
          </a:bodyPr>
          <a:lstStyle/>
          <a:p>
            <a:pPr algn="l">
              <a:lnSpc>
                <a:spcPts val="7344"/>
              </a:lnSpc>
            </a:pPr>
            <a:r>
              <a:rPr lang="en-US" sz="7200" b="true">
                <a:solidFill>
                  <a:srgbClr val="35D0BA"/>
                </a:solidFill>
                <a:latin typeface="League Spartan"/>
                <a:ea typeface="League Spartan"/>
                <a:cs typeface="League Spartan"/>
                <a:sym typeface="League Spartan"/>
              </a:rPr>
              <a:t>01</a:t>
            </a:r>
          </a:p>
        </p:txBody>
      </p:sp>
      <p:sp>
        <p:nvSpPr>
          <p:cNvPr name="TextBox 7" id="7"/>
          <p:cNvSpPr txBox="true"/>
          <p:nvPr/>
        </p:nvSpPr>
        <p:spPr>
          <a:xfrm rot="0">
            <a:off x="1047750" y="3867150"/>
            <a:ext cx="4095750" cy="437388"/>
          </a:xfrm>
          <a:prstGeom prst="rect">
            <a:avLst/>
          </a:prstGeom>
        </p:spPr>
        <p:txBody>
          <a:bodyPr anchor="t" rtlCol="false" tIns="0" lIns="0" bIns="0" rIns="0">
            <a:spAutoFit/>
          </a:bodyPr>
          <a:lstStyle/>
          <a:p>
            <a:pPr algn="l">
              <a:lnSpc>
                <a:spcPts val="3366"/>
              </a:lnSpc>
            </a:pPr>
            <a:r>
              <a:rPr lang="en-US" sz="3300" b="true">
                <a:solidFill>
                  <a:srgbClr val="17233F"/>
                </a:solidFill>
                <a:latin typeface="League Spartan"/>
                <a:ea typeface="League Spartan"/>
                <a:cs typeface="League Spartan"/>
                <a:sym typeface="League Spartan"/>
              </a:rPr>
              <a:t>SPLIT</a:t>
            </a:r>
          </a:p>
        </p:txBody>
      </p:sp>
      <p:sp>
        <p:nvSpPr>
          <p:cNvPr name="TextBox 8" id="8"/>
          <p:cNvSpPr txBox="true"/>
          <p:nvPr/>
        </p:nvSpPr>
        <p:spPr>
          <a:xfrm rot="0">
            <a:off x="1047750" y="4629150"/>
            <a:ext cx="4191000" cy="702945"/>
          </a:xfrm>
          <a:prstGeom prst="rect">
            <a:avLst/>
          </a:prstGeom>
        </p:spPr>
        <p:txBody>
          <a:bodyPr anchor="t" rtlCol="false" tIns="0" lIns="0" bIns="0" rIns="0">
            <a:spAutoFit/>
          </a:bodyPr>
          <a:lstStyle/>
          <a:p>
            <a:pPr algn="l">
              <a:lnSpc>
                <a:spcPts val="2835"/>
              </a:lnSpc>
            </a:pPr>
            <a:r>
              <a:rPr lang="en-US" sz="2100">
                <a:solidFill>
                  <a:srgbClr val="64708A"/>
                </a:solidFill>
                <a:latin typeface="Aptos"/>
                <a:ea typeface="Aptos"/>
                <a:cs typeface="Aptos"/>
                <a:sym typeface="Aptos"/>
              </a:rPr>
              <a:t>Halve repeatedly until every part has one element.</a:t>
            </a:r>
          </a:p>
        </p:txBody>
      </p:sp>
      <p:grpSp>
        <p:nvGrpSpPr>
          <p:cNvPr name="Group 9" id="9"/>
          <p:cNvGrpSpPr/>
          <p:nvPr/>
        </p:nvGrpSpPr>
        <p:grpSpPr>
          <a:xfrm rot="0">
            <a:off x="6667500" y="2143125"/>
            <a:ext cx="4191000" cy="76200"/>
            <a:chOff x="0" y="0"/>
            <a:chExt cx="5588000" cy="101600"/>
          </a:xfrm>
        </p:grpSpPr>
        <p:sp>
          <p:nvSpPr>
            <p:cNvPr name="Freeform 10" id="10"/>
            <p:cNvSpPr/>
            <p:nvPr/>
          </p:nvSpPr>
          <p:spPr>
            <a:xfrm flipH="false" flipV="false" rot="0">
              <a:off x="0" y="0"/>
              <a:ext cx="5588000" cy="101600"/>
            </a:xfrm>
            <a:custGeom>
              <a:avLst/>
              <a:gdLst/>
              <a:ahLst/>
              <a:cxnLst/>
              <a:rect r="r" b="b" t="t" l="l"/>
              <a:pathLst>
                <a:path h="101600" w="5588000">
                  <a:moveTo>
                    <a:pt x="0" y="0"/>
                  </a:moveTo>
                  <a:lnTo>
                    <a:pt x="5588000" y="0"/>
                  </a:lnTo>
                  <a:lnTo>
                    <a:pt x="5588000" y="101600"/>
                  </a:lnTo>
                  <a:lnTo>
                    <a:pt x="0" y="101600"/>
                  </a:lnTo>
                  <a:close/>
                </a:path>
              </a:pathLst>
            </a:custGeom>
            <a:solidFill>
              <a:srgbClr val="FF6B6B"/>
            </a:solidFill>
            <a:ln cap="sq">
              <a:noFill/>
              <a:prstDash val="solid"/>
              <a:miter/>
            </a:ln>
          </p:spPr>
        </p:sp>
        <p:sp>
          <p:nvSpPr>
            <p:cNvPr name="TextBox 11" id="11"/>
            <p:cNvSpPr txBox="true"/>
            <p:nvPr/>
          </p:nvSpPr>
          <p:spPr>
            <a:xfrm>
              <a:off x="0" y="-38100"/>
              <a:ext cx="5588000" cy="1397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6667500" y="2600325"/>
            <a:ext cx="1428750" cy="964692"/>
          </a:xfrm>
          <a:prstGeom prst="rect">
            <a:avLst/>
          </a:prstGeom>
        </p:spPr>
        <p:txBody>
          <a:bodyPr anchor="t" rtlCol="false" tIns="0" lIns="0" bIns="0" rIns="0">
            <a:spAutoFit/>
          </a:bodyPr>
          <a:lstStyle/>
          <a:p>
            <a:pPr algn="l">
              <a:lnSpc>
                <a:spcPts val="7344"/>
              </a:lnSpc>
            </a:pPr>
            <a:r>
              <a:rPr lang="en-US" sz="7200" b="true">
                <a:solidFill>
                  <a:srgbClr val="35D0BA"/>
                </a:solidFill>
                <a:latin typeface="League Spartan"/>
                <a:ea typeface="League Spartan"/>
                <a:cs typeface="League Spartan"/>
                <a:sym typeface="League Spartan"/>
              </a:rPr>
              <a:t>02</a:t>
            </a:r>
          </a:p>
        </p:txBody>
      </p:sp>
      <p:sp>
        <p:nvSpPr>
          <p:cNvPr name="TextBox 13" id="13"/>
          <p:cNvSpPr txBox="true"/>
          <p:nvPr/>
        </p:nvSpPr>
        <p:spPr>
          <a:xfrm rot="0">
            <a:off x="6667500" y="3867150"/>
            <a:ext cx="4095750" cy="437388"/>
          </a:xfrm>
          <a:prstGeom prst="rect">
            <a:avLst/>
          </a:prstGeom>
        </p:spPr>
        <p:txBody>
          <a:bodyPr anchor="t" rtlCol="false" tIns="0" lIns="0" bIns="0" rIns="0">
            <a:spAutoFit/>
          </a:bodyPr>
          <a:lstStyle/>
          <a:p>
            <a:pPr algn="l">
              <a:lnSpc>
                <a:spcPts val="3366"/>
              </a:lnSpc>
            </a:pPr>
            <a:r>
              <a:rPr lang="en-US" sz="3300" b="true">
                <a:solidFill>
                  <a:srgbClr val="17233F"/>
                </a:solidFill>
                <a:latin typeface="League Spartan"/>
                <a:ea typeface="League Spartan"/>
                <a:cs typeface="League Spartan"/>
                <a:sym typeface="League Spartan"/>
              </a:rPr>
              <a:t>COMPARE</a:t>
            </a:r>
          </a:p>
        </p:txBody>
      </p:sp>
      <p:sp>
        <p:nvSpPr>
          <p:cNvPr name="TextBox 14" id="14"/>
          <p:cNvSpPr txBox="true"/>
          <p:nvPr/>
        </p:nvSpPr>
        <p:spPr>
          <a:xfrm rot="0">
            <a:off x="6667500" y="4629150"/>
            <a:ext cx="4191000" cy="702945"/>
          </a:xfrm>
          <a:prstGeom prst="rect">
            <a:avLst/>
          </a:prstGeom>
        </p:spPr>
        <p:txBody>
          <a:bodyPr anchor="t" rtlCol="false" tIns="0" lIns="0" bIns="0" rIns="0">
            <a:spAutoFit/>
          </a:bodyPr>
          <a:lstStyle/>
          <a:p>
            <a:pPr algn="l">
              <a:lnSpc>
                <a:spcPts val="2835"/>
              </a:lnSpc>
            </a:pPr>
            <a:r>
              <a:rPr lang="en-US" sz="2100">
                <a:solidFill>
                  <a:srgbClr val="64708A"/>
                </a:solidFill>
                <a:latin typeface="Aptos"/>
                <a:ea typeface="Aptos"/>
                <a:cs typeface="Aptos"/>
                <a:sym typeface="Aptos"/>
              </a:rPr>
              <a:t>Take the smallest front element from each sorted half.</a:t>
            </a:r>
          </a:p>
        </p:txBody>
      </p:sp>
      <p:grpSp>
        <p:nvGrpSpPr>
          <p:cNvPr name="Group 15" id="15"/>
          <p:cNvGrpSpPr/>
          <p:nvPr/>
        </p:nvGrpSpPr>
        <p:grpSpPr>
          <a:xfrm rot="0">
            <a:off x="12287250" y="2143125"/>
            <a:ext cx="4191000" cy="76200"/>
            <a:chOff x="0" y="0"/>
            <a:chExt cx="5588000" cy="101600"/>
          </a:xfrm>
        </p:grpSpPr>
        <p:sp>
          <p:nvSpPr>
            <p:cNvPr name="Freeform 16" id="16"/>
            <p:cNvSpPr/>
            <p:nvPr/>
          </p:nvSpPr>
          <p:spPr>
            <a:xfrm flipH="false" flipV="false" rot="0">
              <a:off x="0" y="0"/>
              <a:ext cx="5588000" cy="101600"/>
            </a:xfrm>
            <a:custGeom>
              <a:avLst/>
              <a:gdLst/>
              <a:ahLst/>
              <a:cxnLst/>
              <a:rect r="r" b="b" t="t" l="l"/>
              <a:pathLst>
                <a:path h="101600" w="5588000">
                  <a:moveTo>
                    <a:pt x="0" y="0"/>
                  </a:moveTo>
                  <a:lnTo>
                    <a:pt x="5588000" y="0"/>
                  </a:lnTo>
                  <a:lnTo>
                    <a:pt x="5588000" y="101600"/>
                  </a:lnTo>
                  <a:lnTo>
                    <a:pt x="0" y="101600"/>
                  </a:lnTo>
                  <a:close/>
                </a:path>
              </a:pathLst>
            </a:custGeom>
            <a:solidFill>
              <a:srgbClr val="35D0BA"/>
            </a:solidFill>
            <a:ln cap="sq">
              <a:noFill/>
              <a:prstDash val="solid"/>
              <a:miter/>
            </a:ln>
          </p:spPr>
        </p:sp>
        <p:sp>
          <p:nvSpPr>
            <p:cNvPr name="TextBox 17" id="17"/>
            <p:cNvSpPr txBox="true"/>
            <p:nvPr/>
          </p:nvSpPr>
          <p:spPr>
            <a:xfrm>
              <a:off x="0" y="-38100"/>
              <a:ext cx="5588000" cy="1397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12287250" y="2600325"/>
            <a:ext cx="1428750" cy="964692"/>
          </a:xfrm>
          <a:prstGeom prst="rect">
            <a:avLst/>
          </a:prstGeom>
        </p:spPr>
        <p:txBody>
          <a:bodyPr anchor="t" rtlCol="false" tIns="0" lIns="0" bIns="0" rIns="0">
            <a:spAutoFit/>
          </a:bodyPr>
          <a:lstStyle/>
          <a:p>
            <a:pPr algn="l">
              <a:lnSpc>
                <a:spcPts val="7344"/>
              </a:lnSpc>
            </a:pPr>
            <a:r>
              <a:rPr lang="en-US" sz="7200" b="true">
                <a:solidFill>
                  <a:srgbClr val="35D0BA"/>
                </a:solidFill>
                <a:latin typeface="League Spartan"/>
                <a:ea typeface="League Spartan"/>
                <a:cs typeface="League Spartan"/>
                <a:sym typeface="League Spartan"/>
              </a:rPr>
              <a:t>03</a:t>
            </a:r>
          </a:p>
        </p:txBody>
      </p:sp>
      <p:sp>
        <p:nvSpPr>
          <p:cNvPr name="TextBox 19" id="19"/>
          <p:cNvSpPr txBox="true"/>
          <p:nvPr/>
        </p:nvSpPr>
        <p:spPr>
          <a:xfrm rot="0">
            <a:off x="12287250" y="3867150"/>
            <a:ext cx="4095750" cy="437388"/>
          </a:xfrm>
          <a:prstGeom prst="rect">
            <a:avLst/>
          </a:prstGeom>
        </p:spPr>
        <p:txBody>
          <a:bodyPr anchor="t" rtlCol="false" tIns="0" lIns="0" bIns="0" rIns="0">
            <a:spAutoFit/>
          </a:bodyPr>
          <a:lstStyle/>
          <a:p>
            <a:pPr algn="l">
              <a:lnSpc>
                <a:spcPts val="3366"/>
              </a:lnSpc>
            </a:pPr>
            <a:r>
              <a:rPr lang="en-US" sz="3300" b="true">
                <a:solidFill>
                  <a:srgbClr val="17233F"/>
                </a:solidFill>
                <a:latin typeface="League Spartan"/>
                <a:ea typeface="League Spartan"/>
                <a:cs typeface="League Spartan"/>
                <a:sym typeface="League Spartan"/>
              </a:rPr>
              <a:t>MERGE</a:t>
            </a:r>
          </a:p>
        </p:txBody>
      </p:sp>
      <p:sp>
        <p:nvSpPr>
          <p:cNvPr name="TextBox 20" id="20"/>
          <p:cNvSpPr txBox="true"/>
          <p:nvPr/>
        </p:nvSpPr>
        <p:spPr>
          <a:xfrm rot="0">
            <a:off x="12287250" y="4629150"/>
            <a:ext cx="4191000" cy="702945"/>
          </a:xfrm>
          <a:prstGeom prst="rect">
            <a:avLst/>
          </a:prstGeom>
        </p:spPr>
        <p:txBody>
          <a:bodyPr anchor="t" rtlCol="false" tIns="0" lIns="0" bIns="0" rIns="0">
            <a:spAutoFit/>
          </a:bodyPr>
          <a:lstStyle/>
          <a:p>
            <a:pPr algn="l">
              <a:lnSpc>
                <a:spcPts val="2835"/>
              </a:lnSpc>
            </a:pPr>
            <a:r>
              <a:rPr lang="en-US" sz="2100">
                <a:solidFill>
                  <a:srgbClr val="64708A"/>
                </a:solidFill>
                <a:latin typeface="Aptos"/>
                <a:ea typeface="Aptos"/>
                <a:cs typeface="Aptos"/>
                <a:sym typeface="Aptos"/>
              </a:rPr>
              <a:t>Repeat until one fully sorted array remains.</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7F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17233F"/>
                </a:solidFill>
                <a:latin typeface="League Spartan"/>
                <a:ea typeface="League Spartan"/>
                <a:cs typeface="League Spartan"/>
                <a:sym typeface="League Spartan"/>
              </a:rPr>
              <a:t>Working Example</a:t>
            </a:r>
          </a:p>
        </p:txBody>
      </p:sp>
      <p:grpSp>
        <p:nvGrpSpPr>
          <p:cNvPr name="Group 3" id="3"/>
          <p:cNvGrpSpPr/>
          <p:nvPr/>
        </p:nvGrpSpPr>
        <p:grpSpPr>
          <a:xfrm rot="0">
            <a:off x="4667250" y="1638300"/>
            <a:ext cx="8953500" cy="742950"/>
            <a:chOff x="0" y="0"/>
            <a:chExt cx="11938000" cy="990600"/>
          </a:xfrm>
        </p:grpSpPr>
        <p:sp>
          <p:nvSpPr>
            <p:cNvPr name="Freeform 4" id="4"/>
            <p:cNvSpPr/>
            <p:nvPr/>
          </p:nvSpPr>
          <p:spPr>
            <a:xfrm flipH="false" flipV="false" rot="0">
              <a:off x="0" y="0"/>
              <a:ext cx="11938000" cy="990600"/>
            </a:xfrm>
            <a:custGeom>
              <a:avLst/>
              <a:gdLst/>
              <a:ahLst/>
              <a:cxnLst/>
              <a:rect r="r" b="b" t="t" l="l"/>
              <a:pathLst>
                <a:path h="990600" w="11938000">
                  <a:moveTo>
                    <a:pt x="0" y="0"/>
                  </a:moveTo>
                  <a:lnTo>
                    <a:pt x="11938000" y="0"/>
                  </a:lnTo>
                  <a:lnTo>
                    <a:pt x="11938000" y="990600"/>
                  </a:lnTo>
                  <a:lnTo>
                    <a:pt x="0" y="990600"/>
                  </a:lnTo>
                  <a:close/>
                </a:path>
              </a:pathLst>
            </a:custGeom>
            <a:solidFill>
              <a:srgbClr val="FFFFFF"/>
            </a:solidFill>
            <a:ln w="19050" cap="sq">
              <a:solidFill>
                <a:srgbClr val="DBE2EE"/>
              </a:solidFill>
              <a:prstDash val="solid"/>
              <a:miter/>
            </a:ln>
          </p:spPr>
        </p:sp>
        <p:sp>
          <p:nvSpPr>
            <p:cNvPr name="TextBox 5" id="5"/>
            <p:cNvSpPr txBox="true"/>
            <p:nvPr/>
          </p:nvSpPr>
          <p:spPr>
            <a:xfrm>
              <a:off x="0" y="-38100"/>
              <a:ext cx="11938000" cy="10287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4857750" y="1762125"/>
            <a:ext cx="85725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[38, 27, 43, 3, 9, 82, 10]</a:t>
            </a:r>
          </a:p>
        </p:txBody>
      </p:sp>
      <p:grpSp>
        <p:nvGrpSpPr>
          <p:cNvPr name="Group 7" id="7"/>
          <p:cNvGrpSpPr/>
          <p:nvPr/>
        </p:nvGrpSpPr>
        <p:grpSpPr>
          <a:xfrm rot="0">
            <a:off x="1905000" y="3067050"/>
            <a:ext cx="5715000" cy="742950"/>
            <a:chOff x="0" y="0"/>
            <a:chExt cx="7620000" cy="990600"/>
          </a:xfrm>
        </p:grpSpPr>
        <p:sp>
          <p:nvSpPr>
            <p:cNvPr name="Freeform 8" id="8"/>
            <p:cNvSpPr/>
            <p:nvPr/>
          </p:nvSpPr>
          <p:spPr>
            <a:xfrm flipH="false" flipV="false" rot="0">
              <a:off x="0" y="0"/>
              <a:ext cx="7620000" cy="990600"/>
            </a:xfrm>
            <a:custGeom>
              <a:avLst/>
              <a:gdLst/>
              <a:ahLst/>
              <a:cxnLst/>
              <a:rect r="r" b="b" t="t" l="l"/>
              <a:pathLst>
                <a:path h="990600" w="7620000">
                  <a:moveTo>
                    <a:pt x="0" y="0"/>
                  </a:moveTo>
                  <a:lnTo>
                    <a:pt x="7620000" y="0"/>
                  </a:lnTo>
                  <a:lnTo>
                    <a:pt x="7620000" y="990600"/>
                  </a:lnTo>
                  <a:lnTo>
                    <a:pt x="0" y="990600"/>
                  </a:lnTo>
                  <a:close/>
                </a:path>
              </a:pathLst>
            </a:custGeom>
            <a:solidFill>
              <a:srgbClr val="FFFFFF"/>
            </a:solidFill>
            <a:ln w="19050" cap="sq">
              <a:solidFill>
                <a:srgbClr val="DBE2EE"/>
              </a:solidFill>
              <a:prstDash val="solid"/>
              <a:miter/>
            </a:ln>
          </p:spPr>
        </p:sp>
        <p:sp>
          <p:nvSpPr>
            <p:cNvPr name="TextBox 9" id="9"/>
            <p:cNvSpPr txBox="true"/>
            <p:nvPr/>
          </p:nvSpPr>
          <p:spPr>
            <a:xfrm>
              <a:off x="0" y="-38100"/>
              <a:ext cx="7620000" cy="10287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2095500" y="3190875"/>
            <a:ext cx="53340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[38, 27, 43]</a:t>
            </a:r>
          </a:p>
        </p:txBody>
      </p:sp>
      <p:grpSp>
        <p:nvGrpSpPr>
          <p:cNvPr name="Group 11" id="11"/>
          <p:cNvGrpSpPr/>
          <p:nvPr/>
        </p:nvGrpSpPr>
        <p:grpSpPr>
          <a:xfrm rot="0">
            <a:off x="10763250" y="3067050"/>
            <a:ext cx="5715000" cy="742950"/>
            <a:chOff x="0" y="0"/>
            <a:chExt cx="7620000" cy="990600"/>
          </a:xfrm>
        </p:grpSpPr>
        <p:sp>
          <p:nvSpPr>
            <p:cNvPr name="Freeform 12" id="12"/>
            <p:cNvSpPr/>
            <p:nvPr/>
          </p:nvSpPr>
          <p:spPr>
            <a:xfrm flipH="false" flipV="false" rot="0">
              <a:off x="0" y="0"/>
              <a:ext cx="7620000" cy="990600"/>
            </a:xfrm>
            <a:custGeom>
              <a:avLst/>
              <a:gdLst/>
              <a:ahLst/>
              <a:cxnLst/>
              <a:rect r="r" b="b" t="t" l="l"/>
              <a:pathLst>
                <a:path h="990600" w="7620000">
                  <a:moveTo>
                    <a:pt x="0" y="0"/>
                  </a:moveTo>
                  <a:lnTo>
                    <a:pt x="7620000" y="0"/>
                  </a:lnTo>
                  <a:lnTo>
                    <a:pt x="7620000" y="990600"/>
                  </a:lnTo>
                  <a:lnTo>
                    <a:pt x="0" y="990600"/>
                  </a:lnTo>
                  <a:close/>
                </a:path>
              </a:pathLst>
            </a:custGeom>
            <a:solidFill>
              <a:srgbClr val="FFFFFF"/>
            </a:solidFill>
            <a:ln w="19050" cap="sq">
              <a:solidFill>
                <a:srgbClr val="DBE2EE"/>
              </a:solidFill>
              <a:prstDash val="solid"/>
              <a:miter/>
            </a:ln>
          </p:spPr>
        </p:sp>
        <p:sp>
          <p:nvSpPr>
            <p:cNvPr name="TextBox 13" id="13"/>
            <p:cNvSpPr txBox="true"/>
            <p:nvPr/>
          </p:nvSpPr>
          <p:spPr>
            <a:xfrm>
              <a:off x="0" y="-38100"/>
              <a:ext cx="7620000" cy="10287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0953750" y="3190875"/>
            <a:ext cx="53340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[3, 9, 82, 10]</a:t>
            </a:r>
          </a:p>
        </p:txBody>
      </p:sp>
      <p:grpSp>
        <p:nvGrpSpPr>
          <p:cNvPr name="Group 15" id="15"/>
          <p:cNvGrpSpPr/>
          <p:nvPr/>
        </p:nvGrpSpPr>
        <p:grpSpPr>
          <a:xfrm rot="0">
            <a:off x="1905000" y="4495800"/>
            <a:ext cx="5715000" cy="742950"/>
            <a:chOff x="0" y="0"/>
            <a:chExt cx="7620000" cy="990600"/>
          </a:xfrm>
        </p:grpSpPr>
        <p:sp>
          <p:nvSpPr>
            <p:cNvPr name="Freeform 16" id="16"/>
            <p:cNvSpPr/>
            <p:nvPr/>
          </p:nvSpPr>
          <p:spPr>
            <a:xfrm flipH="false" flipV="false" rot="0">
              <a:off x="0" y="0"/>
              <a:ext cx="7620000" cy="990600"/>
            </a:xfrm>
            <a:custGeom>
              <a:avLst/>
              <a:gdLst/>
              <a:ahLst/>
              <a:cxnLst/>
              <a:rect r="r" b="b" t="t" l="l"/>
              <a:pathLst>
                <a:path h="990600" w="7620000">
                  <a:moveTo>
                    <a:pt x="0" y="0"/>
                  </a:moveTo>
                  <a:lnTo>
                    <a:pt x="7620000" y="0"/>
                  </a:lnTo>
                  <a:lnTo>
                    <a:pt x="7620000" y="990600"/>
                  </a:lnTo>
                  <a:lnTo>
                    <a:pt x="0" y="990600"/>
                  </a:lnTo>
                  <a:close/>
                </a:path>
              </a:pathLst>
            </a:custGeom>
            <a:solidFill>
              <a:srgbClr val="FFFFFF"/>
            </a:solidFill>
            <a:ln w="19050" cap="sq">
              <a:solidFill>
                <a:srgbClr val="DBE2EE"/>
              </a:solidFill>
              <a:prstDash val="solid"/>
              <a:miter/>
            </a:ln>
          </p:spPr>
        </p:sp>
        <p:sp>
          <p:nvSpPr>
            <p:cNvPr name="TextBox 17" id="17"/>
            <p:cNvSpPr txBox="true"/>
            <p:nvPr/>
          </p:nvSpPr>
          <p:spPr>
            <a:xfrm>
              <a:off x="0" y="-38100"/>
              <a:ext cx="7620000" cy="10287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2095500" y="4619625"/>
            <a:ext cx="53340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[38]  [27, 43]</a:t>
            </a:r>
          </a:p>
        </p:txBody>
      </p:sp>
      <p:grpSp>
        <p:nvGrpSpPr>
          <p:cNvPr name="Group 19" id="19"/>
          <p:cNvGrpSpPr/>
          <p:nvPr/>
        </p:nvGrpSpPr>
        <p:grpSpPr>
          <a:xfrm rot="0">
            <a:off x="10763250" y="4495800"/>
            <a:ext cx="5715000" cy="742950"/>
            <a:chOff x="0" y="0"/>
            <a:chExt cx="7620000" cy="990600"/>
          </a:xfrm>
        </p:grpSpPr>
        <p:sp>
          <p:nvSpPr>
            <p:cNvPr name="Freeform 20" id="20"/>
            <p:cNvSpPr/>
            <p:nvPr/>
          </p:nvSpPr>
          <p:spPr>
            <a:xfrm flipH="false" flipV="false" rot="0">
              <a:off x="0" y="0"/>
              <a:ext cx="7620000" cy="990600"/>
            </a:xfrm>
            <a:custGeom>
              <a:avLst/>
              <a:gdLst/>
              <a:ahLst/>
              <a:cxnLst/>
              <a:rect r="r" b="b" t="t" l="l"/>
              <a:pathLst>
                <a:path h="990600" w="7620000">
                  <a:moveTo>
                    <a:pt x="0" y="0"/>
                  </a:moveTo>
                  <a:lnTo>
                    <a:pt x="7620000" y="0"/>
                  </a:lnTo>
                  <a:lnTo>
                    <a:pt x="7620000" y="990600"/>
                  </a:lnTo>
                  <a:lnTo>
                    <a:pt x="0" y="990600"/>
                  </a:lnTo>
                  <a:close/>
                </a:path>
              </a:pathLst>
            </a:custGeom>
            <a:solidFill>
              <a:srgbClr val="FFFFFF"/>
            </a:solidFill>
            <a:ln w="19050" cap="sq">
              <a:solidFill>
                <a:srgbClr val="DBE2EE"/>
              </a:solidFill>
              <a:prstDash val="solid"/>
              <a:miter/>
            </a:ln>
          </p:spPr>
        </p:sp>
        <p:sp>
          <p:nvSpPr>
            <p:cNvPr name="TextBox 21" id="21"/>
            <p:cNvSpPr txBox="true"/>
            <p:nvPr/>
          </p:nvSpPr>
          <p:spPr>
            <a:xfrm>
              <a:off x="0" y="-38100"/>
              <a:ext cx="7620000" cy="1028700"/>
            </a:xfrm>
            <a:prstGeom prst="rect">
              <a:avLst/>
            </a:prstGeom>
          </p:spPr>
          <p:txBody>
            <a:bodyPr anchor="ctr" rtlCol="false" tIns="50800" lIns="50800" bIns="50800" rIns="50800"/>
            <a:lstStyle/>
            <a:p>
              <a:pPr algn="l">
                <a:lnSpc>
                  <a:spcPts val="1679"/>
                </a:lnSpc>
              </a:pPr>
            </a:p>
          </p:txBody>
        </p:sp>
      </p:grpSp>
      <p:sp>
        <p:nvSpPr>
          <p:cNvPr name="TextBox 22" id="22"/>
          <p:cNvSpPr txBox="true"/>
          <p:nvPr/>
        </p:nvSpPr>
        <p:spPr>
          <a:xfrm rot="0">
            <a:off x="10953750" y="4619625"/>
            <a:ext cx="53340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[3, 9]  [82, 10]</a:t>
            </a:r>
          </a:p>
        </p:txBody>
      </p:sp>
      <p:grpSp>
        <p:nvGrpSpPr>
          <p:cNvPr name="Group 23" id="23"/>
          <p:cNvGrpSpPr/>
          <p:nvPr/>
        </p:nvGrpSpPr>
        <p:grpSpPr>
          <a:xfrm rot="0">
            <a:off x="1905000" y="5924550"/>
            <a:ext cx="5715000" cy="742950"/>
            <a:chOff x="0" y="0"/>
            <a:chExt cx="7620000" cy="990600"/>
          </a:xfrm>
        </p:grpSpPr>
        <p:sp>
          <p:nvSpPr>
            <p:cNvPr name="Freeform 24" id="24"/>
            <p:cNvSpPr/>
            <p:nvPr/>
          </p:nvSpPr>
          <p:spPr>
            <a:xfrm flipH="false" flipV="false" rot="0">
              <a:off x="0" y="0"/>
              <a:ext cx="7620000" cy="990600"/>
            </a:xfrm>
            <a:custGeom>
              <a:avLst/>
              <a:gdLst/>
              <a:ahLst/>
              <a:cxnLst/>
              <a:rect r="r" b="b" t="t" l="l"/>
              <a:pathLst>
                <a:path h="990600" w="7620000">
                  <a:moveTo>
                    <a:pt x="0" y="0"/>
                  </a:moveTo>
                  <a:lnTo>
                    <a:pt x="7620000" y="0"/>
                  </a:lnTo>
                  <a:lnTo>
                    <a:pt x="7620000" y="990600"/>
                  </a:lnTo>
                  <a:lnTo>
                    <a:pt x="0" y="990600"/>
                  </a:lnTo>
                  <a:close/>
                </a:path>
              </a:pathLst>
            </a:custGeom>
            <a:solidFill>
              <a:srgbClr val="FFFFFF"/>
            </a:solidFill>
            <a:ln w="19050" cap="sq">
              <a:solidFill>
                <a:srgbClr val="DBE2EE"/>
              </a:solidFill>
              <a:prstDash val="solid"/>
              <a:miter/>
            </a:ln>
          </p:spPr>
        </p:sp>
        <p:sp>
          <p:nvSpPr>
            <p:cNvPr name="TextBox 25" id="25"/>
            <p:cNvSpPr txBox="true"/>
            <p:nvPr/>
          </p:nvSpPr>
          <p:spPr>
            <a:xfrm>
              <a:off x="0" y="-38100"/>
              <a:ext cx="7620000" cy="10287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2095500" y="6048375"/>
            <a:ext cx="53340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[27, 38, 43]</a:t>
            </a:r>
          </a:p>
        </p:txBody>
      </p:sp>
      <p:grpSp>
        <p:nvGrpSpPr>
          <p:cNvPr name="Group 27" id="27"/>
          <p:cNvGrpSpPr/>
          <p:nvPr/>
        </p:nvGrpSpPr>
        <p:grpSpPr>
          <a:xfrm rot="0">
            <a:off x="10763250" y="5924550"/>
            <a:ext cx="5715000" cy="742950"/>
            <a:chOff x="0" y="0"/>
            <a:chExt cx="7620000" cy="990600"/>
          </a:xfrm>
        </p:grpSpPr>
        <p:sp>
          <p:nvSpPr>
            <p:cNvPr name="Freeform 28" id="28"/>
            <p:cNvSpPr/>
            <p:nvPr/>
          </p:nvSpPr>
          <p:spPr>
            <a:xfrm flipH="false" flipV="false" rot="0">
              <a:off x="0" y="0"/>
              <a:ext cx="7620000" cy="990600"/>
            </a:xfrm>
            <a:custGeom>
              <a:avLst/>
              <a:gdLst/>
              <a:ahLst/>
              <a:cxnLst/>
              <a:rect r="r" b="b" t="t" l="l"/>
              <a:pathLst>
                <a:path h="990600" w="7620000">
                  <a:moveTo>
                    <a:pt x="0" y="0"/>
                  </a:moveTo>
                  <a:lnTo>
                    <a:pt x="7620000" y="0"/>
                  </a:lnTo>
                  <a:lnTo>
                    <a:pt x="7620000" y="990600"/>
                  </a:lnTo>
                  <a:lnTo>
                    <a:pt x="0" y="990600"/>
                  </a:lnTo>
                  <a:close/>
                </a:path>
              </a:pathLst>
            </a:custGeom>
            <a:solidFill>
              <a:srgbClr val="FFFFFF"/>
            </a:solidFill>
            <a:ln w="19050" cap="sq">
              <a:solidFill>
                <a:srgbClr val="DBE2EE"/>
              </a:solidFill>
              <a:prstDash val="solid"/>
              <a:miter/>
            </a:ln>
          </p:spPr>
        </p:sp>
        <p:sp>
          <p:nvSpPr>
            <p:cNvPr name="TextBox 29" id="29"/>
            <p:cNvSpPr txBox="true"/>
            <p:nvPr/>
          </p:nvSpPr>
          <p:spPr>
            <a:xfrm>
              <a:off x="0" y="-38100"/>
              <a:ext cx="7620000" cy="10287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10953750" y="6048375"/>
            <a:ext cx="5334000" cy="365760"/>
          </a:xfrm>
          <a:prstGeom prst="rect">
            <a:avLst/>
          </a:prstGeom>
        </p:spPr>
        <p:txBody>
          <a:bodyPr anchor="t" rtlCol="false" tIns="0" lIns="0" bIns="0" rIns="0">
            <a:spAutoFit/>
          </a:bodyPr>
          <a:lstStyle/>
          <a:p>
            <a:pPr algn="ctr">
              <a:lnSpc>
                <a:spcPts val="2940"/>
              </a:lnSpc>
            </a:pPr>
            <a:r>
              <a:rPr lang="en-US" sz="2100" b="true">
                <a:solidFill>
                  <a:srgbClr val="17233F"/>
                </a:solidFill>
                <a:latin typeface="IBM Plex Mono Bold"/>
                <a:ea typeface="IBM Plex Mono Bold"/>
                <a:cs typeface="IBM Plex Mono Bold"/>
                <a:sym typeface="IBM Plex Mono Bold"/>
              </a:rPr>
              <a:t>[3, 9, 10, 82]</a:t>
            </a:r>
          </a:p>
        </p:txBody>
      </p:sp>
      <p:grpSp>
        <p:nvGrpSpPr>
          <p:cNvPr name="Group 31" id="31"/>
          <p:cNvGrpSpPr/>
          <p:nvPr/>
        </p:nvGrpSpPr>
        <p:grpSpPr>
          <a:xfrm rot="0">
            <a:off x="4667250" y="7448550"/>
            <a:ext cx="8953500" cy="742950"/>
            <a:chOff x="0" y="0"/>
            <a:chExt cx="11938000" cy="990600"/>
          </a:xfrm>
        </p:grpSpPr>
        <p:sp>
          <p:nvSpPr>
            <p:cNvPr name="Freeform 32" id="32"/>
            <p:cNvSpPr/>
            <p:nvPr/>
          </p:nvSpPr>
          <p:spPr>
            <a:xfrm flipH="false" flipV="false" rot="0">
              <a:off x="0" y="0"/>
              <a:ext cx="11938000" cy="990600"/>
            </a:xfrm>
            <a:custGeom>
              <a:avLst/>
              <a:gdLst/>
              <a:ahLst/>
              <a:cxnLst/>
              <a:rect r="r" b="b" t="t" l="l"/>
              <a:pathLst>
                <a:path h="990600" w="11938000">
                  <a:moveTo>
                    <a:pt x="0" y="0"/>
                  </a:moveTo>
                  <a:lnTo>
                    <a:pt x="11938000" y="0"/>
                  </a:lnTo>
                  <a:lnTo>
                    <a:pt x="11938000" y="990600"/>
                  </a:lnTo>
                  <a:lnTo>
                    <a:pt x="0" y="990600"/>
                  </a:lnTo>
                  <a:close/>
                </a:path>
              </a:pathLst>
            </a:custGeom>
            <a:solidFill>
              <a:srgbClr val="16213E"/>
            </a:solidFill>
            <a:ln w="19050" cap="sq">
              <a:solidFill>
                <a:srgbClr val="35D0BA"/>
              </a:solidFill>
              <a:prstDash val="solid"/>
              <a:miter/>
            </a:ln>
          </p:spPr>
        </p:sp>
        <p:sp>
          <p:nvSpPr>
            <p:cNvPr name="TextBox 33" id="33"/>
            <p:cNvSpPr txBox="true"/>
            <p:nvPr/>
          </p:nvSpPr>
          <p:spPr>
            <a:xfrm>
              <a:off x="0" y="-38100"/>
              <a:ext cx="11938000" cy="1028700"/>
            </a:xfrm>
            <a:prstGeom prst="rect">
              <a:avLst/>
            </a:prstGeom>
          </p:spPr>
          <p:txBody>
            <a:bodyPr anchor="ctr" rtlCol="false" tIns="50800" lIns="50800" bIns="50800" rIns="50800"/>
            <a:lstStyle/>
            <a:p>
              <a:pPr algn="l">
                <a:lnSpc>
                  <a:spcPts val="1679"/>
                </a:lnSpc>
              </a:pPr>
            </a:p>
          </p:txBody>
        </p:sp>
      </p:grpSp>
      <p:sp>
        <p:nvSpPr>
          <p:cNvPr name="TextBox 34" id="34"/>
          <p:cNvSpPr txBox="true"/>
          <p:nvPr/>
        </p:nvSpPr>
        <p:spPr>
          <a:xfrm rot="0">
            <a:off x="4857750" y="7572375"/>
            <a:ext cx="8572500" cy="455295"/>
          </a:xfrm>
          <a:prstGeom prst="rect">
            <a:avLst/>
          </a:prstGeom>
        </p:spPr>
        <p:txBody>
          <a:bodyPr anchor="t" rtlCol="false" tIns="0" lIns="0" bIns="0" rIns="0">
            <a:spAutoFit/>
          </a:bodyPr>
          <a:lstStyle/>
          <a:p>
            <a:pPr algn="ctr">
              <a:lnSpc>
                <a:spcPts val="3779"/>
              </a:lnSpc>
            </a:pPr>
            <a:r>
              <a:rPr lang="en-US" sz="2700" b="true">
                <a:solidFill>
                  <a:srgbClr val="FFFFFF"/>
                </a:solidFill>
                <a:latin typeface="IBM Plex Mono Bold"/>
                <a:ea typeface="IBM Plex Mono Bold"/>
                <a:cs typeface="IBM Plex Mono Bold"/>
                <a:sym typeface="IBM Plex Mono Bold"/>
              </a:rPr>
              <a:t>[3, 9, 10, 27, 38, 43, 82]</a:t>
            </a:r>
          </a:p>
        </p:txBody>
      </p:sp>
      <p:sp>
        <p:nvSpPr>
          <p:cNvPr name="TextBox 35" id="35"/>
          <p:cNvSpPr txBox="true"/>
          <p:nvPr/>
        </p:nvSpPr>
        <p:spPr>
          <a:xfrm rot="0">
            <a:off x="1143000" y="2695575"/>
            <a:ext cx="1714500" cy="218694"/>
          </a:xfrm>
          <a:prstGeom prst="rect">
            <a:avLst/>
          </a:prstGeom>
        </p:spPr>
        <p:txBody>
          <a:bodyPr anchor="t" rtlCol="false" tIns="0" lIns="0" bIns="0" rIns="0">
            <a:spAutoFit/>
          </a:bodyPr>
          <a:lstStyle/>
          <a:p>
            <a:pPr algn="l">
              <a:lnSpc>
                <a:spcPts val="1683"/>
              </a:lnSpc>
            </a:pPr>
            <a:r>
              <a:rPr lang="en-US" sz="1650" b="true">
                <a:solidFill>
                  <a:srgbClr val="FF6B6B"/>
                </a:solidFill>
                <a:latin typeface="League Spartan"/>
                <a:ea typeface="League Spartan"/>
                <a:cs typeface="League Spartan"/>
                <a:sym typeface="League Spartan"/>
              </a:rPr>
              <a:t>SPLIT ↓</a:t>
            </a:r>
          </a:p>
        </p:txBody>
      </p:sp>
      <p:sp>
        <p:nvSpPr>
          <p:cNvPr name="TextBox 36" id="36"/>
          <p:cNvSpPr txBox="true"/>
          <p:nvPr/>
        </p:nvSpPr>
        <p:spPr>
          <a:xfrm rot="0">
            <a:off x="1143000" y="7029450"/>
            <a:ext cx="1905000" cy="218694"/>
          </a:xfrm>
          <a:prstGeom prst="rect">
            <a:avLst/>
          </a:prstGeom>
        </p:spPr>
        <p:txBody>
          <a:bodyPr anchor="t" rtlCol="false" tIns="0" lIns="0" bIns="0" rIns="0">
            <a:spAutoFit/>
          </a:bodyPr>
          <a:lstStyle/>
          <a:p>
            <a:pPr algn="l">
              <a:lnSpc>
                <a:spcPts val="1683"/>
              </a:lnSpc>
            </a:pPr>
            <a:r>
              <a:rPr lang="en-US" sz="1650" b="true">
                <a:solidFill>
                  <a:srgbClr val="35D0BA"/>
                </a:solidFill>
                <a:latin typeface="League Spartan"/>
                <a:ea typeface="League Spartan"/>
                <a:cs typeface="League Spartan"/>
                <a:sym typeface="League Spartan"/>
              </a:rPr>
              <a:t>MERGE ↓</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0B132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FFFFFF"/>
                </a:solidFill>
                <a:latin typeface="League Spartan"/>
                <a:ea typeface="League Spartan"/>
                <a:cs typeface="League Spartan"/>
                <a:sym typeface="League Spartan"/>
              </a:rPr>
              <a:t>Merge Sort Algorithm</a:t>
            </a:r>
          </a:p>
        </p:txBody>
      </p:sp>
      <p:grpSp>
        <p:nvGrpSpPr>
          <p:cNvPr name="Group 3" id="3"/>
          <p:cNvGrpSpPr/>
          <p:nvPr/>
        </p:nvGrpSpPr>
        <p:grpSpPr>
          <a:xfrm rot="0">
            <a:off x="1238250" y="1809750"/>
            <a:ext cx="11049000" cy="7143750"/>
            <a:chOff x="0" y="0"/>
            <a:chExt cx="14732000" cy="9525000"/>
          </a:xfrm>
        </p:grpSpPr>
        <p:sp>
          <p:nvSpPr>
            <p:cNvPr name="Freeform 4" id="4"/>
            <p:cNvSpPr/>
            <p:nvPr/>
          </p:nvSpPr>
          <p:spPr>
            <a:xfrm flipH="false" flipV="false" rot="0">
              <a:off x="0" y="0"/>
              <a:ext cx="14732000" cy="9525000"/>
            </a:xfrm>
            <a:custGeom>
              <a:avLst/>
              <a:gdLst/>
              <a:ahLst/>
              <a:cxnLst/>
              <a:rect r="r" b="b" t="t" l="l"/>
              <a:pathLst>
                <a:path h="9525000" w="14732000">
                  <a:moveTo>
                    <a:pt x="0" y="0"/>
                  </a:moveTo>
                  <a:lnTo>
                    <a:pt x="14732000" y="0"/>
                  </a:lnTo>
                  <a:lnTo>
                    <a:pt x="14732000" y="9525000"/>
                  </a:lnTo>
                  <a:lnTo>
                    <a:pt x="0" y="9525000"/>
                  </a:lnTo>
                  <a:close/>
                </a:path>
              </a:pathLst>
            </a:custGeom>
            <a:solidFill>
              <a:srgbClr val="16213E"/>
            </a:solidFill>
            <a:ln w="19050" cap="sq">
              <a:solidFill>
                <a:srgbClr val="35D0BA"/>
              </a:solidFill>
              <a:prstDash val="solid"/>
              <a:miter/>
            </a:ln>
          </p:spPr>
        </p:sp>
        <p:sp>
          <p:nvSpPr>
            <p:cNvPr name="TextBox 5" id="5"/>
            <p:cNvSpPr txBox="true"/>
            <p:nvPr/>
          </p:nvSpPr>
          <p:spPr>
            <a:xfrm>
              <a:off x="0" y="-38100"/>
              <a:ext cx="14732000" cy="9563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19250" y="2038350"/>
            <a:ext cx="9906000" cy="4788694"/>
          </a:xfrm>
          <a:prstGeom prst="rect">
            <a:avLst/>
          </a:prstGeom>
        </p:spPr>
        <p:txBody>
          <a:bodyPr anchor="t" rtlCol="false" tIns="0" lIns="0" bIns="0" rIns="0">
            <a:spAutoFit/>
          </a:bodyPr>
          <a:lstStyle/>
          <a:p>
            <a:pPr algn="l">
              <a:lnSpc>
                <a:spcPts val="3153"/>
              </a:lnSpc>
            </a:pPr>
            <a:r>
              <a:rPr lang="en-US" sz="2175">
                <a:solidFill>
                  <a:srgbClr val="FFFFFF"/>
                </a:solidFill>
                <a:latin typeface="IBM Plex Mono"/>
                <a:ea typeface="IBM Plex Mono"/>
                <a:cs typeface="IBM Plex Mono"/>
                <a:sym typeface="IBM Plex Mono"/>
              </a:rPr>
              <a:t>MERGE-SORT(A, low, high)</a:t>
            </a:r>
          </a:p>
          <a:p>
            <a:pPr algn="l">
              <a:lnSpc>
                <a:spcPts val="3153"/>
              </a:lnSpc>
            </a:pPr>
            <a:r>
              <a:rPr lang="en-US" sz="2175">
                <a:solidFill>
                  <a:srgbClr val="FFFFFF"/>
                </a:solidFill>
                <a:latin typeface="IBM Plex Mono"/>
                <a:ea typeface="IBM Plex Mono"/>
                <a:cs typeface="IBM Plex Mono"/>
                <a:sym typeface="IBM Plex Mono"/>
              </a:rPr>
              <a:t>  if low &lt; high</a:t>
            </a:r>
          </a:p>
          <a:p>
            <a:pPr algn="l">
              <a:lnSpc>
                <a:spcPts val="3153"/>
              </a:lnSpc>
            </a:pPr>
            <a:r>
              <a:rPr lang="en-US" sz="2175">
                <a:solidFill>
                  <a:srgbClr val="FFFFFF"/>
                </a:solidFill>
                <a:latin typeface="IBM Plex Mono"/>
                <a:ea typeface="IBM Plex Mono"/>
                <a:cs typeface="IBM Plex Mono"/>
                <a:sym typeface="IBM Plex Mono"/>
              </a:rPr>
              <a:t>    mid ← ⌊(low + high) / 2⌋</a:t>
            </a:r>
          </a:p>
          <a:p>
            <a:pPr algn="l">
              <a:lnSpc>
                <a:spcPts val="3153"/>
              </a:lnSpc>
            </a:pPr>
            <a:r>
              <a:rPr lang="en-US" sz="2175">
                <a:solidFill>
                  <a:srgbClr val="FFFFFF"/>
                </a:solidFill>
                <a:latin typeface="IBM Plex Mono"/>
                <a:ea typeface="IBM Plex Mono"/>
                <a:cs typeface="IBM Plex Mono"/>
                <a:sym typeface="IBM Plex Mono"/>
              </a:rPr>
              <a:t>    MERGE-SORT(A, low, mid)</a:t>
            </a:r>
          </a:p>
          <a:p>
            <a:pPr algn="l">
              <a:lnSpc>
                <a:spcPts val="3153"/>
              </a:lnSpc>
            </a:pPr>
            <a:r>
              <a:rPr lang="en-US" sz="2175">
                <a:solidFill>
                  <a:srgbClr val="FFFFFF"/>
                </a:solidFill>
                <a:latin typeface="IBM Plex Mono"/>
                <a:ea typeface="IBM Plex Mono"/>
                <a:cs typeface="IBM Plex Mono"/>
                <a:sym typeface="IBM Plex Mono"/>
              </a:rPr>
              <a:t>    MERGE-SORT(A, mid + 1, high)</a:t>
            </a:r>
          </a:p>
          <a:p>
            <a:pPr algn="l">
              <a:lnSpc>
                <a:spcPts val="3153"/>
              </a:lnSpc>
            </a:pPr>
            <a:r>
              <a:rPr lang="en-US" sz="2175">
                <a:solidFill>
                  <a:srgbClr val="FFFFFF"/>
                </a:solidFill>
                <a:latin typeface="IBM Plex Mono"/>
                <a:ea typeface="IBM Plex Mono"/>
                <a:cs typeface="IBM Plex Mono"/>
                <a:sym typeface="IBM Plex Mono"/>
              </a:rPr>
              <a:t>    MERGE(A, low, mid, high)</a:t>
            </a:r>
          </a:p>
          <a:p>
            <a:pPr algn="l">
              <a:lnSpc>
                <a:spcPts val="3153"/>
              </a:lnSpc>
            </a:pPr>
          </a:p>
          <a:p>
            <a:pPr algn="l">
              <a:lnSpc>
                <a:spcPts val="3153"/>
              </a:lnSpc>
            </a:pPr>
            <a:r>
              <a:rPr lang="en-US" sz="2175">
                <a:solidFill>
                  <a:srgbClr val="FFFFFF"/>
                </a:solidFill>
                <a:latin typeface="IBM Plex Mono"/>
                <a:ea typeface="IBM Plex Mono"/>
                <a:cs typeface="IBM Plex Mono"/>
                <a:sym typeface="IBM Plex Mono"/>
              </a:rPr>
              <a:t>MERGE(A, low, mid, high)</a:t>
            </a:r>
          </a:p>
          <a:p>
            <a:pPr algn="l">
              <a:lnSpc>
                <a:spcPts val="3153"/>
              </a:lnSpc>
            </a:pPr>
            <a:r>
              <a:rPr lang="en-US" sz="2175">
                <a:solidFill>
                  <a:srgbClr val="FFFFFF"/>
                </a:solidFill>
                <a:latin typeface="IBM Plex Mono"/>
                <a:ea typeface="IBM Plex Mono"/>
                <a:cs typeface="IBM Plex Mono"/>
                <a:sym typeface="IBM Plex Mono"/>
              </a:rPr>
              <a:t>  copy halves into L and R</a:t>
            </a:r>
          </a:p>
          <a:p>
            <a:pPr algn="l">
              <a:lnSpc>
                <a:spcPts val="3153"/>
              </a:lnSpc>
            </a:pPr>
            <a:r>
              <a:rPr lang="en-US" sz="2175">
                <a:solidFill>
                  <a:srgbClr val="FFFFFF"/>
                </a:solidFill>
                <a:latin typeface="IBM Plex Mono"/>
                <a:ea typeface="IBM Plex Mono"/>
                <a:cs typeface="IBM Plex Mono"/>
                <a:sym typeface="IBM Plex Mono"/>
              </a:rPr>
              <a:t>  while L and R are not empty</a:t>
            </a:r>
          </a:p>
          <a:p>
            <a:pPr algn="l">
              <a:lnSpc>
                <a:spcPts val="3153"/>
              </a:lnSpc>
            </a:pPr>
            <a:r>
              <a:rPr lang="en-US" sz="2175">
                <a:solidFill>
                  <a:srgbClr val="FFFFFF"/>
                </a:solidFill>
                <a:latin typeface="IBM Plex Mono"/>
                <a:ea typeface="IBM Plex Mono"/>
                <a:cs typeface="IBM Plex Mono"/>
                <a:sym typeface="IBM Plex Mono"/>
              </a:rPr>
              <a:t>    append the smaller front item to A</a:t>
            </a:r>
          </a:p>
          <a:p>
            <a:pPr algn="l">
              <a:lnSpc>
                <a:spcPts val="3153"/>
              </a:lnSpc>
            </a:pPr>
            <a:r>
              <a:rPr lang="en-US" sz="2175">
                <a:solidFill>
                  <a:srgbClr val="FFFFFF"/>
                </a:solidFill>
                <a:latin typeface="IBM Plex Mono"/>
                <a:ea typeface="IBM Plex Mono"/>
                <a:cs typeface="IBM Plex Mono"/>
                <a:sym typeface="IBM Plex Mono"/>
              </a:rPr>
              <a:t>  append remaining items</a:t>
            </a:r>
          </a:p>
        </p:txBody>
      </p:sp>
      <p:sp>
        <p:nvSpPr>
          <p:cNvPr name="TextBox 7" id="7"/>
          <p:cNvSpPr txBox="true"/>
          <p:nvPr/>
        </p:nvSpPr>
        <p:spPr>
          <a:xfrm rot="0">
            <a:off x="13049250" y="3362325"/>
            <a:ext cx="3714750" cy="552831"/>
          </a:xfrm>
          <a:prstGeom prst="rect">
            <a:avLst/>
          </a:prstGeom>
        </p:spPr>
        <p:txBody>
          <a:bodyPr anchor="t" rtlCol="false" tIns="0" lIns="0" bIns="0" rIns="0">
            <a:spAutoFit/>
          </a:bodyPr>
          <a:lstStyle/>
          <a:p>
            <a:pPr algn="l">
              <a:lnSpc>
                <a:spcPts val="2142"/>
              </a:lnSpc>
            </a:pPr>
            <a:r>
              <a:rPr lang="en-US" sz="2100" b="true">
                <a:solidFill>
                  <a:srgbClr val="35D0BA"/>
                </a:solidFill>
                <a:latin typeface="League Spartan"/>
                <a:ea typeface="League Spartan"/>
                <a:cs typeface="League Spartan"/>
                <a:sym typeface="League Spartan"/>
              </a:rPr>
              <a:t>Recursion divides.</a:t>
            </a:r>
          </a:p>
          <a:p>
            <a:pPr algn="l">
              <a:lnSpc>
                <a:spcPts val="2142"/>
              </a:lnSpc>
            </a:pPr>
            <a:r>
              <a:rPr lang="en-US" sz="2100" b="true">
                <a:solidFill>
                  <a:srgbClr val="35D0BA"/>
                </a:solidFill>
                <a:latin typeface="League Spartan"/>
                <a:ea typeface="League Spartan"/>
                <a:cs typeface="League Spartan"/>
                <a:sym typeface="League Spartan"/>
              </a:rPr>
              <a:t>MERGE does the ordering.</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0B132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FFFFFF"/>
                </a:solidFill>
                <a:latin typeface="League Spartan"/>
                <a:ea typeface="League Spartan"/>
                <a:cs typeface="League Spartan"/>
                <a:sym typeface="League Spartan"/>
              </a:rPr>
              <a:t>Implementation Snippet — Python</a:t>
            </a:r>
          </a:p>
        </p:txBody>
      </p:sp>
      <p:grpSp>
        <p:nvGrpSpPr>
          <p:cNvPr name="Group 3" id="3"/>
          <p:cNvGrpSpPr/>
          <p:nvPr/>
        </p:nvGrpSpPr>
        <p:grpSpPr>
          <a:xfrm rot="0">
            <a:off x="1238250" y="1857375"/>
            <a:ext cx="15811500" cy="7048500"/>
            <a:chOff x="0" y="0"/>
            <a:chExt cx="21082000" cy="9398000"/>
          </a:xfrm>
        </p:grpSpPr>
        <p:sp>
          <p:nvSpPr>
            <p:cNvPr name="Freeform 4" id="4"/>
            <p:cNvSpPr/>
            <p:nvPr/>
          </p:nvSpPr>
          <p:spPr>
            <a:xfrm flipH="false" flipV="false" rot="0">
              <a:off x="0" y="0"/>
              <a:ext cx="21082000" cy="9398000"/>
            </a:xfrm>
            <a:custGeom>
              <a:avLst/>
              <a:gdLst/>
              <a:ahLst/>
              <a:cxnLst/>
              <a:rect r="r" b="b" t="t" l="l"/>
              <a:pathLst>
                <a:path h="9398000" w="21082000">
                  <a:moveTo>
                    <a:pt x="0" y="0"/>
                  </a:moveTo>
                  <a:lnTo>
                    <a:pt x="21082000" y="0"/>
                  </a:lnTo>
                  <a:lnTo>
                    <a:pt x="21082000" y="9398000"/>
                  </a:lnTo>
                  <a:lnTo>
                    <a:pt x="0" y="9398000"/>
                  </a:lnTo>
                  <a:close/>
                </a:path>
              </a:pathLst>
            </a:custGeom>
            <a:solidFill>
              <a:srgbClr val="16213E"/>
            </a:solidFill>
            <a:ln cap="sq">
              <a:noFill/>
              <a:prstDash val="solid"/>
              <a:miter/>
            </a:ln>
          </p:spPr>
        </p:sp>
        <p:sp>
          <p:nvSpPr>
            <p:cNvPr name="TextBox 5" id="5"/>
            <p:cNvSpPr txBox="true"/>
            <p:nvPr/>
          </p:nvSpPr>
          <p:spPr>
            <a:xfrm>
              <a:off x="0" y="-38100"/>
              <a:ext cx="21082000" cy="94361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619250" y="2133600"/>
            <a:ext cx="12858750" cy="4562475"/>
          </a:xfrm>
          <a:prstGeom prst="rect">
            <a:avLst/>
          </a:prstGeom>
        </p:spPr>
        <p:txBody>
          <a:bodyPr anchor="t" rtlCol="false" tIns="0" lIns="0" bIns="0" rIns="0">
            <a:spAutoFit/>
          </a:bodyPr>
          <a:lstStyle/>
          <a:p>
            <a:pPr algn="l">
              <a:lnSpc>
                <a:spcPts val="3045"/>
              </a:lnSpc>
            </a:pPr>
            <a:r>
              <a:rPr lang="en-US" sz="2100">
                <a:solidFill>
                  <a:srgbClr val="FFFFFF"/>
                </a:solidFill>
                <a:latin typeface="IBM Plex Mono"/>
                <a:ea typeface="IBM Plex Mono"/>
                <a:cs typeface="IBM Plex Mono"/>
                <a:sym typeface="IBM Plex Mono"/>
              </a:rPr>
              <a:t>def merge_sort(arr):</a:t>
            </a:r>
          </a:p>
          <a:p>
            <a:pPr algn="l">
              <a:lnSpc>
                <a:spcPts val="3045"/>
              </a:lnSpc>
            </a:pPr>
            <a:r>
              <a:rPr lang="en-US" sz="2100">
                <a:solidFill>
                  <a:srgbClr val="FFFFFF"/>
                </a:solidFill>
                <a:latin typeface="IBM Plex Mono"/>
                <a:ea typeface="IBM Plex Mono"/>
                <a:cs typeface="IBM Plex Mono"/>
                <a:sym typeface="IBM Plex Mono"/>
              </a:rPr>
              <a:t>    if len(arr) &lt;= 1:</a:t>
            </a:r>
          </a:p>
          <a:p>
            <a:pPr algn="l">
              <a:lnSpc>
                <a:spcPts val="3045"/>
              </a:lnSpc>
            </a:pPr>
            <a:r>
              <a:rPr lang="en-US" sz="2100">
                <a:solidFill>
                  <a:srgbClr val="FFFFFF"/>
                </a:solidFill>
                <a:latin typeface="IBM Plex Mono"/>
                <a:ea typeface="IBM Plex Mono"/>
                <a:cs typeface="IBM Plex Mono"/>
                <a:sym typeface="IBM Plex Mono"/>
              </a:rPr>
              <a:t>        return arr</a:t>
            </a:r>
          </a:p>
          <a:p>
            <a:pPr algn="l">
              <a:lnSpc>
                <a:spcPts val="3045"/>
              </a:lnSpc>
            </a:pPr>
          </a:p>
          <a:p>
            <a:pPr algn="l">
              <a:lnSpc>
                <a:spcPts val="3045"/>
              </a:lnSpc>
            </a:pPr>
            <a:r>
              <a:rPr lang="en-US" sz="2100">
                <a:solidFill>
                  <a:srgbClr val="FFFFFF"/>
                </a:solidFill>
                <a:latin typeface="IBM Plex Mono"/>
                <a:ea typeface="IBM Plex Mono"/>
                <a:cs typeface="IBM Plex Mono"/>
                <a:sym typeface="IBM Plex Mono"/>
              </a:rPr>
              <a:t>    mid = len(arr) // 2</a:t>
            </a:r>
          </a:p>
          <a:p>
            <a:pPr algn="l">
              <a:lnSpc>
                <a:spcPts val="3045"/>
              </a:lnSpc>
            </a:pPr>
            <a:r>
              <a:rPr lang="en-US" sz="2100">
                <a:solidFill>
                  <a:srgbClr val="FFFFFF"/>
                </a:solidFill>
                <a:latin typeface="IBM Plex Mono"/>
                <a:ea typeface="IBM Plex Mono"/>
                <a:cs typeface="IBM Plex Mono"/>
                <a:sym typeface="IBM Plex Mono"/>
              </a:rPr>
              <a:t>    left = merge_sort(arr[:mid])</a:t>
            </a:r>
          </a:p>
          <a:p>
            <a:pPr algn="l">
              <a:lnSpc>
                <a:spcPts val="3045"/>
              </a:lnSpc>
            </a:pPr>
            <a:r>
              <a:rPr lang="en-US" sz="2100">
                <a:solidFill>
                  <a:srgbClr val="FFFFFF"/>
                </a:solidFill>
                <a:latin typeface="IBM Plex Mono"/>
                <a:ea typeface="IBM Plex Mono"/>
                <a:cs typeface="IBM Plex Mono"/>
                <a:sym typeface="IBM Plex Mono"/>
              </a:rPr>
              <a:t>    right = merge_sort(arr[mid:])</a:t>
            </a:r>
          </a:p>
          <a:p>
            <a:pPr algn="l">
              <a:lnSpc>
                <a:spcPts val="3045"/>
              </a:lnSpc>
            </a:pPr>
          </a:p>
          <a:p>
            <a:pPr algn="l">
              <a:lnSpc>
                <a:spcPts val="3045"/>
              </a:lnSpc>
            </a:pPr>
            <a:r>
              <a:rPr lang="en-US" sz="2100">
                <a:solidFill>
                  <a:srgbClr val="FFFFFF"/>
                </a:solidFill>
                <a:latin typeface="IBM Plex Mono"/>
                <a:ea typeface="IBM Plex Mono"/>
                <a:cs typeface="IBM Plex Mono"/>
                <a:sym typeface="IBM Plex Mono"/>
              </a:rPr>
              <a:t>    result = []</a:t>
            </a:r>
          </a:p>
          <a:p>
            <a:pPr algn="l">
              <a:lnSpc>
                <a:spcPts val="3045"/>
              </a:lnSpc>
            </a:pPr>
            <a:r>
              <a:rPr lang="en-US" sz="2100">
                <a:solidFill>
                  <a:srgbClr val="FFFFFF"/>
                </a:solidFill>
                <a:latin typeface="IBM Plex Mono"/>
                <a:ea typeface="IBM Plex Mono"/>
                <a:cs typeface="IBM Plex Mono"/>
                <a:sym typeface="IBM Plex Mono"/>
              </a:rPr>
              <a:t>    while left and right:</a:t>
            </a:r>
          </a:p>
          <a:p>
            <a:pPr algn="l">
              <a:lnSpc>
                <a:spcPts val="3045"/>
              </a:lnSpc>
            </a:pPr>
            <a:r>
              <a:rPr lang="en-US" sz="2100">
                <a:solidFill>
                  <a:srgbClr val="FFFFFF"/>
                </a:solidFill>
                <a:latin typeface="IBM Plex Mono"/>
                <a:ea typeface="IBM Plex Mono"/>
                <a:cs typeface="IBM Plex Mono"/>
                <a:sym typeface="IBM Plex Mono"/>
              </a:rPr>
              <a:t>        result.append((left if left[0] &lt; right[0] else right).pop(0))</a:t>
            </a:r>
          </a:p>
          <a:p>
            <a:pPr algn="l">
              <a:lnSpc>
                <a:spcPts val="3045"/>
              </a:lnSpc>
            </a:pPr>
            <a:r>
              <a:rPr lang="en-US" sz="2100">
                <a:solidFill>
                  <a:srgbClr val="FFFFFF"/>
                </a:solidFill>
                <a:latin typeface="IBM Plex Mono"/>
                <a:ea typeface="IBM Plex Mono"/>
                <a:cs typeface="IBM Plex Mono"/>
                <a:sym typeface="IBM Plex Mono"/>
              </a:rPr>
              <a:t>    return result + left + right</a:t>
            </a:r>
          </a:p>
        </p:txBody>
      </p:sp>
      <p:sp>
        <p:nvSpPr>
          <p:cNvPr name="TextBox 7" id="7"/>
          <p:cNvSpPr txBox="true"/>
          <p:nvPr/>
        </p:nvSpPr>
        <p:spPr>
          <a:xfrm rot="0">
            <a:off x="12096750" y="8067675"/>
            <a:ext cx="4476750" cy="324803"/>
          </a:xfrm>
          <a:prstGeom prst="rect">
            <a:avLst/>
          </a:prstGeom>
        </p:spPr>
        <p:txBody>
          <a:bodyPr anchor="t" rtlCol="false" tIns="0" lIns="0" bIns="0" rIns="0">
            <a:spAutoFit/>
          </a:bodyPr>
          <a:lstStyle/>
          <a:p>
            <a:pPr algn="r">
              <a:lnSpc>
                <a:spcPts val="2632"/>
              </a:lnSpc>
            </a:pPr>
            <a:r>
              <a:rPr lang="en-US" sz="1950">
                <a:solidFill>
                  <a:srgbClr val="35D0BA"/>
                </a:solidFill>
                <a:latin typeface="Aptos"/>
                <a:ea typeface="Aptos"/>
                <a:cs typeface="Aptos"/>
                <a:sym typeface="Aptos"/>
              </a:rPr>
              <a:t>recursive • stable • readable</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5F7F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17233F"/>
                </a:solidFill>
                <a:latin typeface="League Spartan"/>
                <a:ea typeface="League Spartan"/>
                <a:cs typeface="League Spartan"/>
                <a:sym typeface="League Spartan"/>
              </a:rPr>
              <a:t>Time Complexity</a:t>
            </a:r>
          </a:p>
        </p:txBody>
      </p:sp>
      <p:sp>
        <p:nvSpPr>
          <p:cNvPr name="TextBox 3" id="3"/>
          <p:cNvSpPr txBox="true"/>
          <p:nvPr/>
        </p:nvSpPr>
        <p:spPr>
          <a:xfrm rot="0">
            <a:off x="1047750" y="2057400"/>
            <a:ext cx="9906000" cy="928688"/>
          </a:xfrm>
          <a:prstGeom prst="rect">
            <a:avLst/>
          </a:prstGeom>
        </p:spPr>
        <p:txBody>
          <a:bodyPr anchor="t" rtlCol="false" tIns="0" lIns="0" bIns="0" rIns="0">
            <a:spAutoFit/>
          </a:bodyPr>
          <a:lstStyle/>
          <a:p>
            <a:pPr algn="l">
              <a:lnSpc>
                <a:spcPts val="7612"/>
              </a:lnSpc>
            </a:pPr>
            <a:r>
              <a:rPr lang="en-US" sz="5250">
                <a:solidFill>
                  <a:srgbClr val="17233F"/>
                </a:solidFill>
                <a:latin typeface="IBM Plex Mono"/>
                <a:ea typeface="IBM Plex Mono"/>
                <a:cs typeface="IBM Plex Mono"/>
                <a:sym typeface="IBM Plex Mono"/>
              </a:rPr>
              <a:t>T(n) = 2T(n/2) + O(n)</a:t>
            </a:r>
          </a:p>
        </p:txBody>
      </p:sp>
      <p:sp>
        <p:nvSpPr>
          <p:cNvPr name="TextBox 4" id="4"/>
          <p:cNvSpPr txBox="true"/>
          <p:nvPr/>
        </p:nvSpPr>
        <p:spPr>
          <a:xfrm rot="0">
            <a:off x="1104900" y="3457575"/>
            <a:ext cx="8572500" cy="353568"/>
          </a:xfrm>
          <a:prstGeom prst="rect">
            <a:avLst/>
          </a:prstGeom>
        </p:spPr>
        <p:txBody>
          <a:bodyPr anchor="t" rtlCol="false" tIns="0" lIns="0" bIns="0" rIns="0">
            <a:spAutoFit/>
          </a:bodyPr>
          <a:lstStyle/>
          <a:p>
            <a:pPr algn="l">
              <a:lnSpc>
                <a:spcPts val="2601"/>
              </a:lnSpc>
            </a:pPr>
            <a:r>
              <a:rPr lang="en-US" sz="2550" b="true">
                <a:solidFill>
                  <a:srgbClr val="FF6B6B"/>
                </a:solidFill>
                <a:latin typeface="League Spartan"/>
                <a:ea typeface="League Spartan"/>
                <a:cs typeface="League Spartan"/>
                <a:sym typeface="League Spartan"/>
              </a:rPr>
              <a:t>Master Theorem  →  O(n log n)</a:t>
            </a:r>
          </a:p>
        </p:txBody>
      </p:sp>
      <p:grpSp>
        <p:nvGrpSpPr>
          <p:cNvPr name="Group 5" id="5"/>
          <p:cNvGrpSpPr/>
          <p:nvPr/>
        </p:nvGrpSpPr>
        <p:grpSpPr>
          <a:xfrm rot="0">
            <a:off x="1047750" y="5810250"/>
            <a:ext cx="4953000" cy="2476500"/>
            <a:chOff x="0" y="0"/>
            <a:chExt cx="6604000" cy="3302000"/>
          </a:xfrm>
        </p:grpSpPr>
        <p:grpSp>
          <p:nvGrpSpPr>
            <p:cNvPr name="Group 6" id="6"/>
            <p:cNvGrpSpPr/>
            <p:nvPr/>
          </p:nvGrpSpPr>
          <p:grpSpPr>
            <a:xfrm rot="0">
              <a:off x="0" y="0"/>
              <a:ext cx="6604000" cy="3302000"/>
              <a:chOff x="0" y="0"/>
              <a:chExt cx="6604000" cy="3302000"/>
            </a:xfrm>
          </p:grpSpPr>
          <p:sp>
            <p:nvSpPr>
              <p:cNvPr name="Freeform 7" id="7"/>
              <p:cNvSpPr/>
              <p:nvPr/>
            </p:nvSpPr>
            <p:spPr>
              <a:xfrm flipH="false" flipV="false" rot="0">
                <a:off x="0" y="0"/>
                <a:ext cx="6604000" cy="3302000"/>
              </a:xfrm>
              <a:custGeom>
                <a:avLst/>
                <a:gdLst/>
                <a:ahLst/>
                <a:cxnLst/>
                <a:rect r="r" b="b" t="t" l="l"/>
                <a:pathLst>
                  <a:path h="3302000" w="6604000">
                    <a:moveTo>
                      <a:pt x="0" y="0"/>
                    </a:moveTo>
                    <a:lnTo>
                      <a:pt x="6604000" y="0"/>
                    </a:lnTo>
                    <a:lnTo>
                      <a:pt x="6604000" y="3302000"/>
                    </a:lnTo>
                    <a:lnTo>
                      <a:pt x="0" y="3302000"/>
                    </a:lnTo>
                    <a:close/>
                  </a:path>
                </a:pathLst>
              </a:custGeom>
              <a:solidFill>
                <a:srgbClr val="FFFFFF"/>
              </a:solidFill>
              <a:ln w="19050" cap="sq">
                <a:solidFill>
                  <a:srgbClr val="DBE2EE"/>
                </a:solidFill>
                <a:prstDash val="solid"/>
                <a:miter/>
              </a:ln>
            </p:spPr>
          </p:sp>
          <p:sp>
            <p:nvSpPr>
              <p:cNvPr name="TextBox 8" id="8"/>
              <p:cNvSpPr txBox="true"/>
              <p:nvPr/>
            </p:nvSpPr>
            <p:spPr>
              <a:xfrm>
                <a:off x="0" y="-38100"/>
                <a:ext cx="6604000" cy="3340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444500" y="546100"/>
              <a:ext cx="5715000" cy="321564"/>
            </a:xfrm>
            <a:prstGeom prst="rect">
              <a:avLst/>
            </a:prstGeom>
          </p:spPr>
          <p:txBody>
            <a:bodyPr anchor="t" rtlCol="false" tIns="0" lIns="0" bIns="0" rIns="0">
              <a:spAutoFit/>
            </a:bodyPr>
            <a:lstStyle/>
            <a:p>
              <a:pPr algn="l">
                <a:lnSpc>
                  <a:spcPts val="1836"/>
                </a:lnSpc>
              </a:pPr>
              <a:r>
                <a:rPr lang="en-US" sz="1800" b="true">
                  <a:solidFill>
                    <a:srgbClr val="64708A"/>
                  </a:solidFill>
                  <a:latin typeface="League Spartan"/>
                  <a:ea typeface="League Spartan"/>
                  <a:cs typeface="League Spartan"/>
                  <a:sym typeface="League Spartan"/>
                </a:rPr>
                <a:t>BEST</a:t>
              </a:r>
            </a:p>
          </p:txBody>
        </p:sp>
        <p:sp>
          <p:nvSpPr>
            <p:cNvPr name="TextBox 10" id="10"/>
            <p:cNvSpPr txBox="true"/>
            <p:nvPr/>
          </p:nvSpPr>
          <p:spPr>
            <a:xfrm rot="0">
              <a:off x="444500" y="1492250"/>
              <a:ext cx="5715000" cy="819150"/>
            </a:xfrm>
            <a:prstGeom prst="rect">
              <a:avLst/>
            </a:prstGeom>
          </p:spPr>
          <p:txBody>
            <a:bodyPr anchor="t" rtlCol="false" tIns="0" lIns="0" bIns="0" rIns="0">
              <a:spAutoFit/>
            </a:bodyPr>
            <a:lstStyle/>
            <a:p>
              <a:pPr algn="l">
                <a:lnSpc>
                  <a:spcPts val="5220"/>
                </a:lnSpc>
              </a:pPr>
              <a:r>
                <a:rPr lang="en-US" sz="3600">
                  <a:solidFill>
                    <a:srgbClr val="17233F"/>
                  </a:solidFill>
                  <a:latin typeface="IBM Plex Mono"/>
                  <a:ea typeface="IBM Plex Mono"/>
                  <a:cs typeface="IBM Plex Mono"/>
                  <a:sym typeface="IBM Plex Mono"/>
                </a:rPr>
                <a:t>O(n log n)</a:t>
              </a:r>
            </a:p>
          </p:txBody>
        </p:sp>
      </p:grpSp>
      <p:grpSp>
        <p:nvGrpSpPr>
          <p:cNvPr name="Group 11" id="11"/>
          <p:cNvGrpSpPr/>
          <p:nvPr/>
        </p:nvGrpSpPr>
        <p:grpSpPr>
          <a:xfrm rot="0">
            <a:off x="6477000" y="5810250"/>
            <a:ext cx="4953000" cy="2476500"/>
            <a:chOff x="0" y="0"/>
            <a:chExt cx="6604000" cy="3302000"/>
          </a:xfrm>
        </p:grpSpPr>
        <p:grpSp>
          <p:nvGrpSpPr>
            <p:cNvPr name="Group 12" id="12"/>
            <p:cNvGrpSpPr/>
            <p:nvPr/>
          </p:nvGrpSpPr>
          <p:grpSpPr>
            <a:xfrm rot="0">
              <a:off x="0" y="0"/>
              <a:ext cx="6604000" cy="3302000"/>
              <a:chOff x="0" y="0"/>
              <a:chExt cx="6604000" cy="3302000"/>
            </a:xfrm>
          </p:grpSpPr>
          <p:sp>
            <p:nvSpPr>
              <p:cNvPr name="Freeform 13" id="13"/>
              <p:cNvSpPr/>
              <p:nvPr/>
            </p:nvSpPr>
            <p:spPr>
              <a:xfrm flipH="false" flipV="false" rot="0">
                <a:off x="0" y="0"/>
                <a:ext cx="6604000" cy="3302000"/>
              </a:xfrm>
              <a:custGeom>
                <a:avLst/>
                <a:gdLst/>
                <a:ahLst/>
                <a:cxnLst/>
                <a:rect r="r" b="b" t="t" l="l"/>
                <a:pathLst>
                  <a:path h="3302000" w="6604000">
                    <a:moveTo>
                      <a:pt x="0" y="0"/>
                    </a:moveTo>
                    <a:lnTo>
                      <a:pt x="6604000" y="0"/>
                    </a:lnTo>
                    <a:lnTo>
                      <a:pt x="6604000" y="3302000"/>
                    </a:lnTo>
                    <a:lnTo>
                      <a:pt x="0" y="3302000"/>
                    </a:lnTo>
                    <a:close/>
                  </a:path>
                </a:pathLst>
              </a:custGeom>
              <a:solidFill>
                <a:srgbClr val="FFFFFF"/>
              </a:solidFill>
              <a:ln w="19050" cap="sq">
                <a:solidFill>
                  <a:srgbClr val="DBE2EE"/>
                </a:solidFill>
                <a:prstDash val="solid"/>
                <a:miter/>
              </a:ln>
            </p:spPr>
          </p:sp>
          <p:sp>
            <p:nvSpPr>
              <p:cNvPr name="TextBox 14" id="14"/>
              <p:cNvSpPr txBox="true"/>
              <p:nvPr/>
            </p:nvSpPr>
            <p:spPr>
              <a:xfrm>
                <a:off x="0" y="-38100"/>
                <a:ext cx="6604000" cy="33401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444500" y="546100"/>
              <a:ext cx="5715000" cy="321564"/>
            </a:xfrm>
            <a:prstGeom prst="rect">
              <a:avLst/>
            </a:prstGeom>
          </p:spPr>
          <p:txBody>
            <a:bodyPr anchor="t" rtlCol="false" tIns="0" lIns="0" bIns="0" rIns="0">
              <a:spAutoFit/>
            </a:bodyPr>
            <a:lstStyle/>
            <a:p>
              <a:pPr algn="l">
                <a:lnSpc>
                  <a:spcPts val="1836"/>
                </a:lnSpc>
              </a:pPr>
              <a:r>
                <a:rPr lang="en-US" sz="1800" b="true">
                  <a:solidFill>
                    <a:srgbClr val="64708A"/>
                  </a:solidFill>
                  <a:latin typeface="League Spartan"/>
                  <a:ea typeface="League Spartan"/>
                  <a:cs typeface="League Spartan"/>
                  <a:sym typeface="League Spartan"/>
                </a:rPr>
                <a:t>AVERAGE</a:t>
              </a:r>
            </a:p>
          </p:txBody>
        </p:sp>
        <p:sp>
          <p:nvSpPr>
            <p:cNvPr name="TextBox 16" id="16"/>
            <p:cNvSpPr txBox="true"/>
            <p:nvPr/>
          </p:nvSpPr>
          <p:spPr>
            <a:xfrm rot="0">
              <a:off x="444500" y="1492250"/>
              <a:ext cx="5715000" cy="819150"/>
            </a:xfrm>
            <a:prstGeom prst="rect">
              <a:avLst/>
            </a:prstGeom>
          </p:spPr>
          <p:txBody>
            <a:bodyPr anchor="t" rtlCol="false" tIns="0" lIns="0" bIns="0" rIns="0">
              <a:spAutoFit/>
            </a:bodyPr>
            <a:lstStyle/>
            <a:p>
              <a:pPr algn="l">
                <a:lnSpc>
                  <a:spcPts val="5220"/>
                </a:lnSpc>
              </a:pPr>
              <a:r>
                <a:rPr lang="en-US" sz="3600">
                  <a:solidFill>
                    <a:srgbClr val="17233F"/>
                  </a:solidFill>
                  <a:latin typeface="IBM Plex Mono"/>
                  <a:ea typeface="IBM Plex Mono"/>
                  <a:cs typeface="IBM Plex Mono"/>
                  <a:sym typeface="IBM Plex Mono"/>
                </a:rPr>
                <a:t>O(n log n)</a:t>
              </a:r>
            </a:p>
          </p:txBody>
        </p:sp>
      </p:grpSp>
      <p:grpSp>
        <p:nvGrpSpPr>
          <p:cNvPr name="Group 17" id="17"/>
          <p:cNvGrpSpPr/>
          <p:nvPr/>
        </p:nvGrpSpPr>
        <p:grpSpPr>
          <a:xfrm rot="0">
            <a:off x="11906250" y="5810250"/>
            <a:ext cx="4953000" cy="2476500"/>
            <a:chOff x="0" y="0"/>
            <a:chExt cx="6604000" cy="3302000"/>
          </a:xfrm>
        </p:grpSpPr>
        <p:grpSp>
          <p:nvGrpSpPr>
            <p:cNvPr name="Group 18" id="18"/>
            <p:cNvGrpSpPr/>
            <p:nvPr/>
          </p:nvGrpSpPr>
          <p:grpSpPr>
            <a:xfrm rot="0">
              <a:off x="0" y="0"/>
              <a:ext cx="6604000" cy="3302000"/>
              <a:chOff x="0" y="0"/>
              <a:chExt cx="6604000" cy="3302000"/>
            </a:xfrm>
          </p:grpSpPr>
          <p:sp>
            <p:nvSpPr>
              <p:cNvPr name="Freeform 19" id="19"/>
              <p:cNvSpPr/>
              <p:nvPr/>
            </p:nvSpPr>
            <p:spPr>
              <a:xfrm flipH="false" flipV="false" rot="0">
                <a:off x="0" y="0"/>
                <a:ext cx="6604000" cy="3302000"/>
              </a:xfrm>
              <a:custGeom>
                <a:avLst/>
                <a:gdLst/>
                <a:ahLst/>
                <a:cxnLst/>
                <a:rect r="r" b="b" t="t" l="l"/>
                <a:pathLst>
                  <a:path h="3302000" w="6604000">
                    <a:moveTo>
                      <a:pt x="0" y="0"/>
                    </a:moveTo>
                    <a:lnTo>
                      <a:pt x="6604000" y="0"/>
                    </a:lnTo>
                    <a:lnTo>
                      <a:pt x="6604000" y="3302000"/>
                    </a:lnTo>
                    <a:lnTo>
                      <a:pt x="0" y="3302000"/>
                    </a:lnTo>
                    <a:close/>
                  </a:path>
                </a:pathLst>
              </a:custGeom>
              <a:solidFill>
                <a:srgbClr val="FFFFFF"/>
              </a:solidFill>
              <a:ln w="19050" cap="sq">
                <a:solidFill>
                  <a:srgbClr val="FF6B6B"/>
                </a:solidFill>
                <a:prstDash val="solid"/>
                <a:miter/>
              </a:ln>
            </p:spPr>
          </p:sp>
          <p:sp>
            <p:nvSpPr>
              <p:cNvPr name="TextBox 20" id="20"/>
              <p:cNvSpPr txBox="true"/>
              <p:nvPr/>
            </p:nvSpPr>
            <p:spPr>
              <a:xfrm>
                <a:off x="0" y="-38100"/>
                <a:ext cx="6604000" cy="3340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444500" y="546100"/>
              <a:ext cx="5715000" cy="321564"/>
            </a:xfrm>
            <a:prstGeom prst="rect">
              <a:avLst/>
            </a:prstGeom>
          </p:spPr>
          <p:txBody>
            <a:bodyPr anchor="t" rtlCol="false" tIns="0" lIns="0" bIns="0" rIns="0">
              <a:spAutoFit/>
            </a:bodyPr>
            <a:lstStyle/>
            <a:p>
              <a:pPr algn="l">
                <a:lnSpc>
                  <a:spcPts val="1836"/>
                </a:lnSpc>
              </a:pPr>
              <a:r>
                <a:rPr lang="en-US" sz="1800" b="true">
                  <a:solidFill>
                    <a:srgbClr val="64708A"/>
                  </a:solidFill>
                  <a:latin typeface="League Spartan"/>
                  <a:ea typeface="League Spartan"/>
                  <a:cs typeface="League Spartan"/>
                  <a:sym typeface="League Spartan"/>
                </a:rPr>
                <a:t>WORST</a:t>
              </a:r>
            </a:p>
          </p:txBody>
        </p:sp>
        <p:sp>
          <p:nvSpPr>
            <p:cNvPr name="TextBox 22" id="22"/>
            <p:cNvSpPr txBox="true"/>
            <p:nvPr/>
          </p:nvSpPr>
          <p:spPr>
            <a:xfrm rot="0">
              <a:off x="444500" y="1492250"/>
              <a:ext cx="5715000" cy="819150"/>
            </a:xfrm>
            <a:prstGeom prst="rect">
              <a:avLst/>
            </a:prstGeom>
          </p:spPr>
          <p:txBody>
            <a:bodyPr anchor="t" rtlCol="false" tIns="0" lIns="0" bIns="0" rIns="0">
              <a:spAutoFit/>
            </a:bodyPr>
            <a:lstStyle/>
            <a:p>
              <a:pPr algn="l">
                <a:lnSpc>
                  <a:spcPts val="5220"/>
                </a:lnSpc>
              </a:pPr>
              <a:r>
                <a:rPr lang="en-US" sz="3600">
                  <a:solidFill>
                    <a:srgbClr val="17233F"/>
                  </a:solidFill>
                  <a:latin typeface="IBM Plex Mono"/>
                  <a:ea typeface="IBM Plex Mono"/>
                  <a:cs typeface="IBM Plex Mono"/>
                  <a:sym typeface="IBM Plex Mono"/>
                </a:rPr>
                <a:t>O(n log n)</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F5F7F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17233F"/>
                </a:solidFill>
                <a:latin typeface="League Spartan"/>
                <a:ea typeface="League Spartan"/>
                <a:cs typeface="League Spartan"/>
                <a:sym typeface="League Spartan"/>
              </a:rPr>
              <a:t>Space Complexity &amp; Properties</a:t>
            </a:r>
          </a:p>
        </p:txBody>
      </p:sp>
      <p:grpSp>
        <p:nvGrpSpPr>
          <p:cNvPr name="Group 3" id="3"/>
          <p:cNvGrpSpPr/>
          <p:nvPr/>
        </p:nvGrpSpPr>
        <p:grpSpPr>
          <a:xfrm rot="0">
            <a:off x="1047750" y="2095500"/>
            <a:ext cx="7429500" cy="2667000"/>
            <a:chOff x="0" y="0"/>
            <a:chExt cx="9906000" cy="3556000"/>
          </a:xfrm>
        </p:grpSpPr>
        <p:grpSp>
          <p:nvGrpSpPr>
            <p:cNvPr name="Group 4" id="4"/>
            <p:cNvGrpSpPr/>
            <p:nvPr/>
          </p:nvGrpSpPr>
          <p:grpSpPr>
            <a:xfrm rot="0">
              <a:off x="0" y="0"/>
              <a:ext cx="9906000" cy="3556000"/>
              <a:chOff x="0" y="0"/>
              <a:chExt cx="9906000" cy="3556000"/>
            </a:xfrm>
          </p:grpSpPr>
          <p:sp>
            <p:nvSpPr>
              <p:cNvPr name="Freeform 5" id="5"/>
              <p:cNvSpPr/>
              <p:nvPr/>
            </p:nvSpPr>
            <p:spPr>
              <a:xfrm flipH="false" flipV="false" rot="0">
                <a:off x="0" y="0"/>
                <a:ext cx="9906000" cy="3556000"/>
              </a:xfrm>
              <a:custGeom>
                <a:avLst/>
                <a:gdLst/>
                <a:ahLst/>
                <a:cxnLst/>
                <a:rect r="r" b="b" t="t" l="l"/>
                <a:pathLst>
                  <a:path h="3556000" w="9906000">
                    <a:moveTo>
                      <a:pt x="0" y="0"/>
                    </a:moveTo>
                    <a:lnTo>
                      <a:pt x="9906000" y="0"/>
                    </a:lnTo>
                    <a:lnTo>
                      <a:pt x="9906000" y="3556000"/>
                    </a:lnTo>
                    <a:lnTo>
                      <a:pt x="0" y="3556000"/>
                    </a:lnTo>
                    <a:close/>
                  </a:path>
                </a:pathLst>
              </a:custGeom>
              <a:solidFill>
                <a:srgbClr val="FFFFFF"/>
              </a:solidFill>
              <a:ln w="38100" cap="sq">
                <a:solidFill>
                  <a:srgbClr val="FF6B6B"/>
                </a:solidFill>
                <a:prstDash val="solid"/>
                <a:miter/>
              </a:ln>
            </p:spPr>
          </p:sp>
          <p:sp>
            <p:nvSpPr>
              <p:cNvPr name="TextBox 6" id="6"/>
              <p:cNvSpPr txBox="true"/>
              <p:nvPr/>
            </p:nvSpPr>
            <p:spPr>
              <a:xfrm>
                <a:off x="0" y="-38100"/>
                <a:ext cx="9906000" cy="3594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571500" y="647700"/>
              <a:ext cx="8255000" cy="715772"/>
            </a:xfrm>
            <a:prstGeom prst="rect">
              <a:avLst/>
            </a:prstGeom>
          </p:spPr>
          <p:txBody>
            <a:bodyPr anchor="t" rtlCol="false" tIns="0" lIns="0" bIns="0" rIns="0">
              <a:spAutoFit/>
            </a:bodyPr>
            <a:lstStyle/>
            <a:p>
              <a:pPr algn="l">
                <a:lnSpc>
                  <a:spcPts val="3978"/>
                </a:lnSpc>
              </a:pPr>
              <a:r>
                <a:rPr lang="en-US" sz="3900" b="true">
                  <a:solidFill>
                    <a:srgbClr val="17233F"/>
                  </a:solidFill>
                  <a:latin typeface="League Spartan"/>
                  <a:ea typeface="League Spartan"/>
                  <a:cs typeface="League Spartan"/>
                  <a:sym typeface="League Spartan"/>
                </a:rPr>
                <a:t>O(n)</a:t>
              </a:r>
            </a:p>
          </p:txBody>
        </p:sp>
        <p:sp>
          <p:nvSpPr>
            <p:cNvPr name="TextBox 8" id="8"/>
            <p:cNvSpPr txBox="true"/>
            <p:nvPr/>
          </p:nvSpPr>
          <p:spPr>
            <a:xfrm rot="0">
              <a:off x="571500" y="1803400"/>
              <a:ext cx="8255000" cy="454660"/>
            </a:xfrm>
            <a:prstGeom prst="rect">
              <a:avLst/>
            </a:prstGeom>
          </p:spPr>
          <p:txBody>
            <a:bodyPr anchor="t" rtlCol="false" tIns="0" lIns="0" bIns="0" rIns="0">
              <a:spAutoFit/>
            </a:bodyPr>
            <a:lstStyle/>
            <a:p>
              <a:pPr algn="l">
                <a:lnSpc>
                  <a:spcPts val="2835"/>
                </a:lnSpc>
              </a:pPr>
              <a:r>
                <a:rPr lang="en-US" sz="2100">
                  <a:solidFill>
                    <a:srgbClr val="64708A"/>
                  </a:solidFill>
                  <a:latin typeface="Aptos"/>
                  <a:ea typeface="Aptos"/>
                  <a:cs typeface="Aptos"/>
                  <a:sym typeface="Aptos"/>
                </a:rPr>
                <a:t>Auxiliary space</a:t>
              </a:r>
            </a:p>
          </p:txBody>
        </p:sp>
      </p:grpSp>
      <p:grpSp>
        <p:nvGrpSpPr>
          <p:cNvPr name="Group 9" id="9"/>
          <p:cNvGrpSpPr/>
          <p:nvPr/>
        </p:nvGrpSpPr>
        <p:grpSpPr>
          <a:xfrm rot="0">
            <a:off x="9144000" y="2095500"/>
            <a:ext cx="7429500" cy="2667000"/>
            <a:chOff x="0" y="0"/>
            <a:chExt cx="9906000" cy="3556000"/>
          </a:xfrm>
        </p:grpSpPr>
        <p:grpSp>
          <p:nvGrpSpPr>
            <p:cNvPr name="Group 10" id="10"/>
            <p:cNvGrpSpPr/>
            <p:nvPr/>
          </p:nvGrpSpPr>
          <p:grpSpPr>
            <a:xfrm rot="0">
              <a:off x="0" y="0"/>
              <a:ext cx="9906000" cy="3556000"/>
              <a:chOff x="0" y="0"/>
              <a:chExt cx="9906000" cy="3556000"/>
            </a:xfrm>
          </p:grpSpPr>
          <p:sp>
            <p:nvSpPr>
              <p:cNvPr name="Freeform 11" id="11"/>
              <p:cNvSpPr/>
              <p:nvPr/>
            </p:nvSpPr>
            <p:spPr>
              <a:xfrm flipH="false" flipV="false" rot="0">
                <a:off x="0" y="0"/>
                <a:ext cx="9906000" cy="3556000"/>
              </a:xfrm>
              <a:custGeom>
                <a:avLst/>
                <a:gdLst/>
                <a:ahLst/>
                <a:cxnLst/>
                <a:rect r="r" b="b" t="t" l="l"/>
                <a:pathLst>
                  <a:path h="3556000" w="9906000">
                    <a:moveTo>
                      <a:pt x="0" y="0"/>
                    </a:moveTo>
                    <a:lnTo>
                      <a:pt x="9906000" y="0"/>
                    </a:lnTo>
                    <a:lnTo>
                      <a:pt x="9906000" y="3556000"/>
                    </a:lnTo>
                    <a:lnTo>
                      <a:pt x="0" y="3556000"/>
                    </a:lnTo>
                    <a:close/>
                  </a:path>
                </a:pathLst>
              </a:custGeom>
              <a:solidFill>
                <a:srgbClr val="FFFFFF"/>
              </a:solidFill>
              <a:ln w="38100" cap="sq">
                <a:solidFill>
                  <a:srgbClr val="35D0BA"/>
                </a:solidFill>
                <a:prstDash val="solid"/>
                <a:miter/>
              </a:ln>
            </p:spPr>
          </p:sp>
          <p:sp>
            <p:nvSpPr>
              <p:cNvPr name="TextBox 12" id="12"/>
              <p:cNvSpPr txBox="true"/>
              <p:nvPr/>
            </p:nvSpPr>
            <p:spPr>
              <a:xfrm>
                <a:off x="0" y="-38100"/>
                <a:ext cx="9906000" cy="3594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571500" y="647700"/>
              <a:ext cx="8255000" cy="715772"/>
            </a:xfrm>
            <a:prstGeom prst="rect">
              <a:avLst/>
            </a:prstGeom>
          </p:spPr>
          <p:txBody>
            <a:bodyPr anchor="t" rtlCol="false" tIns="0" lIns="0" bIns="0" rIns="0">
              <a:spAutoFit/>
            </a:bodyPr>
            <a:lstStyle/>
            <a:p>
              <a:pPr algn="l">
                <a:lnSpc>
                  <a:spcPts val="3978"/>
                </a:lnSpc>
              </a:pPr>
              <a:r>
                <a:rPr lang="en-US" sz="3900" b="true">
                  <a:solidFill>
                    <a:srgbClr val="17233F"/>
                  </a:solidFill>
                  <a:latin typeface="League Spartan"/>
                  <a:ea typeface="League Spartan"/>
                  <a:cs typeface="League Spartan"/>
                  <a:sym typeface="League Spartan"/>
                </a:rPr>
                <a:t>STABLE</a:t>
              </a:r>
            </a:p>
          </p:txBody>
        </p:sp>
        <p:sp>
          <p:nvSpPr>
            <p:cNvPr name="TextBox 14" id="14"/>
            <p:cNvSpPr txBox="true"/>
            <p:nvPr/>
          </p:nvSpPr>
          <p:spPr>
            <a:xfrm rot="0">
              <a:off x="571500" y="1803400"/>
              <a:ext cx="8255000" cy="454660"/>
            </a:xfrm>
            <a:prstGeom prst="rect">
              <a:avLst/>
            </a:prstGeom>
          </p:spPr>
          <p:txBody>
            <a:bodyPr anchor="t" rtlCol="false" tIns="0" lIns="0" bIns="0" rIns="0">
              <a:spAutoFit/>
            </a:bodyPr>
            <a:lstStyle/>
            <a:p>
              <a:pPr algn="l">
                <a:lnSpc>
                  <a:spcPts val="2835"/>
                </a:lnSpc>
              </a:pPr>
              <a:r>
                <a:rPr lang="en-US" sz="2100">
                  <a:solidFill>
                    <a:srgbClr val="64708A"/>
                  </a:solidFill>
                  <a:latin typeface="Aptos"/>
                  <a:ea typeface="Aptos"/>
                  <a:cs typeface="Aptos"/>
                  <a:sym typeface="Aptos"/>
                </a:rPr>
                <a:t>Equal keys keep their order</a:t>
              </a:r>
            </a:p>
          </p:txBody>
        </p:sp>
      </p:grpSp>
      <p:grpSp>
        <p:nvGrpSpPr>
          <p:cNvPr name="Group 15" id="15"/>
          <p:cNvGrpSpPr/>
          <p:nvPr/>
        </p:nvGrpSpPr>
        <p:grpSpPr>
          <a:xfrm rot="0">
            <a:off x="1047750" y="5524500"/>
            <a:ext cx="7429500" cy="2667000"/>
            <a:chOff x="0" y="0"/>
            <a:chExt cx="9906000" cy="3556000"/>
          </a:xfrm>
        </p:grpSpPr>
        <p:grpSp>
          <p:nvGrpSpPr>
            <p:cNvPr name="Group 16" id="16"/>
            <p:cNvGrpSpPr/>
            <p:nvPr/>
          </p:nvGrpSpPr>
          <p:grpSpPr>
            <a:xfrm rot="0">
              <a:off x="0" y="0"/>
              <a:ext cx="9906000" cy="3556000"/>
              <a:chOff x="0" y="0"/>
              <a:chExt cx="9906000" cy="3556000"/>
            </a:xfrm>
          </p:grpSpPr>
          <p:sp>
            <p:nvSpPr>
              <p:cNvPr name="Freeform 17" id="17"/>
              <p:cNvSpPr/>
              <p:nvPr/>
            </p:nvSpPr>
            <p:spPr>
              <a:xfrm flipH="false" flipV="false" rot="0">
                <a:off x="0" y="0"/>
                <a:ext cx="9906000" cy="3556000"/>
              </a:xfrm>
              <a:custGeom>
                <a:avLst/>
                <a:gdLst/>
                <a:ahLst/>
                <a:cxnLst/>
                <a:rect r="r" b="b" t="t" l="l"/>
                <a:pathLst>
                  <a:path h="3556000" w="9906000">
                    <a:moveTo>
                      <a:pt x="0" y="0"/>
                    </a:moveTo>
                    <a:lnTo>
                      <a:pt x="9906000" y="0"/>
                    </a:lnTo>
                    <a:lnTo>
                      <a:pt x="9906000" y="3556000"/>
                    </a:lnTo>
                    <a:lnTo>
                      <a:pt x="0" y="3556000"/>
                    </a:lnTo>
                    <a:close/>
                  </a:path>
                </a:pathLst>
              </a:custGeom>
              <a:solidFill>
                <a:srgbClr val="16213E"/>
              </a:solidFill>
              <a:ln w="38100" cap="sq">
                <a:solidFill>
                  <a:srgbClr val="16213E"/>
                </a:solidFill>
                <a:prstDash val="solid"/>
                <a:miter/>
              </a:ln>
            </p:spPr>
          </p:sp>
          <p:sp>
            <p:nvSpPr>
              <p:cNvPr name="TextBox 18" id="18"/>
              <p:cNvSpPr txBox="true"/>
              <p:nvPr/>
            </p:nvSpPr>
            <p:spPr>
              <a:xfrm>
                <a:off x="0" y="-38100"/>
                <a:ext cx="9906000" cy="3594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571500" y="647700"/>
              <a:ext cx="8255000" cy="715772"/>
            </a:xfrm>
            <a:prstGeom prst="rect">
              <a:avLst/>
            </a:prstGeom>
          </p:spPr>
          <p:txBody>
            <a:bodyPr anchor="t" rtlCol="false" tIns="0" lIns="0" bIns="0" rIns="0">
              <a:spAutoFit/>
            </a:bodyPr>
            <a:lstStyle/>
            <a:p>
              <a:pPr algn="l">
                <a:lnSpc>
                  <a:spcPts val="3978"/>
                </a:lnSpc>
              </a:pPr>
              <a:r>
                <a:rPr lang="en-US" sz="3900" b="true">
                  <a:solidFill>
                    <a:srgbClr val="FFFFFF"/>
                  </a:solidFill>
                  <a:latin typeface="League Spartan"/>
                  <a:ea typeface="League Spartan"/>
                  <a:cs typeface="League Spartan"/>
                  <a:sym typeface="League Spartan"/>
                </a:rPr>
                <a:t>NOT IN-PLACE</a:t>
              </a:r>
            </a:p>
          </p:txBody>
        </p:sp>
        <p:sp>
          <p:nvSpPr>
            <p:cNvPr name="TextBox 20" id="20"/>
            <p:cNvSpPr txBox="true"/>
            <p:nvPr/>
          </p:nvSpPr>
          <p:spPr>
            <a:xfrm rot="0">
              <a:off x="571500" y="1803400"/>
              <a:ext cx="8255000" cy="454660"/>
            </a:xfrm>
            <a:prstGeom prst="rect">
              <a:avLst/>
            </a:prstGeom>
          </p:spPr>
          <p:txBody>
            <a:bodyPr anchor="t" rtlCol="false" tIns="0" lIns="0" bIns="0" rIns="0">
              <a:spAutoFit/>
            </a:bodyPr>
            <a:lstStyle/>
            <a:p>
              <a:pPr algn="l">
                <a:lnSpc>
                  <a:spcPts val="2835"/>
                </a:lnSpc>
              </a:pPr>
              <a:r>
                <a:rPr lang="en-US" sz="2100">
                  <a:solidFill>
                    <a:srgbClr val="FFFFFF"/>
                  </a:solidFill>
                  <a:latin typeface="Aptos"/>
                  <a:ea typeface="Aptos"/>
                  <a:cs typeface="Aptos"/>
                  <a:sym typeface="Aptos"/>
                </a:rPr>
                <a:t>Arrays need extra storage</a:t>
              </a:r>
            </a:p>
          </p:txBody>
        </p:sp>
      </p:grpSp>
      <p:grpSp>
        <p:nvGrpSpPr>
          <p:cNvPr name="Group 21" id="21"/>
          <p:cNvGrpSpPr/>
          <p:nvPr/>
        </p:nvGrpSpPr>
        <p:grpSpPr>
          <a:xfrm rot="0">
            <a:off x="9144000" y="5524500"/>
            <a:ext cx="7429500" cy="2667000"/>
            <a:chOff x="0" y="0"/>
            <a:chExt cx="9906000" cy="3556000"/>
          </a:xfrm>
        </p:grpSpPr>
        <p:grpSp>
          <p:nvGrpSpPr>
            <p:cNvPr name="Group 22" id="22"/>
            <p:cNvGrpSpPr/>
            <p:nvPr/>
          </p:nvGrpSpPr>
          <p:grpSpPr>
            <a:xfrm rot="0">
              <a:off x="0" y="0"/>
              <a:ext cx="9906000" cy="3556000"/>
              <a:chOff x="0" y="0"/>
              <a:chExt cx="9906000" cy="3556000"/>
            </a:xfrm>
          </p:grpSpPr>
          <p:sp>
            <p:nvSpPr>
              <p:cNvPr name="Freeform 23" id="23"/>
              <p:cNvSpPr/>
              <p:nvPr/>
            </p:nvSpPr>
            <p:spPr>
              <a:xfrm flipH="false" flipV="false" rot="0">
                <a:off x="0" y="0"/>
                <a:ext cx="9906000" cy="3556000"/>
              </a:xfrm>
              <a:custGeom>
                <a:avLst/>
                <a:gdLst/>
                <a:ahLst/>
                <a:cxnLst/>
                <a:rect r="r" b="b" t="t" l="l"/>
                <a:pathLst>
                  <a:path h="3556000" w="9906000">
                    <a:moveTo>
                      <a:pt x="0" y="0"/>
                    </a:moveTo>
                    <a:lnTo>
                      <a:pt x="9906000" y="0"/>
                    </a:lnTo>
                    <a:lnTo>
                      <a:pt x="9906000" y="3556000"/>
                    </a:lnTo>
                    <a:lnTo>
                      <a:pt x="0" y="3556000"/>
                    </a:lnTo>
                    <a:close/>
                  </a:path>
                </a:pathLst>
              </a:custGeom>
              <a:solidFill>
                <a:srgbClr val="FFFFFF"/>
              </a:solidFill>
              <a:ln w="38100" cap="sq">
                <a:solidFill>
                  <a:srgbClr val="35D0BA"/>
                </a:solidFill>
                <a:prstDash val="solid"/>
                <a:miter/>
              </a:ln>
            </p:spPr>
          </p:sp>
          <p:sp>
            <p:nvSpPr>
              <p:cNvPr name="TextBox 24" id="24"/>
              <p:cNvSpPr txBox="true"/>
              <p:nvPr/>
            </p:nvSpPr>
            <p:spPr>
              <a:xfrm>
                <a:off x="0" y="-38100"/>
                <a:ext cx="9906000" cy="3594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571500" y="647700"/>
              <a:ext cx="8255000" cy="715772"/>
            </a:xfrm>
            <a:prstGeom prst="rect">
              <a:avLst/>
            </a:prstGeom>
          </p:spPr>
          <p:txBody>
            <a:bodyPr anchor="t" rtlCol="false" tIns="0" lIns="0" bIns="0" rIns="0">
              <a:spAutoFit/>
            </a:bodyPr>
            <a:lstStyle/>
            <a:p>
              <a:pPr algn="l">
                <a:lnSpc>
                  <a:spcPts val="3978"/>
                </a:lnSpc>
              </a:pPr>
              <a:r>
                <a:rPr lang="en-US" sz="3900" b="true">
                  <a:solidFill>
                    <a:srgbClr val="17233F"/>
                  </a:solidFill>
                  <a:latin typeface="League Spartan"/>
                  <a:ea typeface="League Spartan"/>
                  <a:cs typeface="League Spartan"/>
                  <a:sym typeface="League Spartan"/>
                </a:rPr>
                <a:t>IDEAL FOR</a:t>
              </a:r>
            </a:p>
          </p:txBody>
        </p:sp>
        <p:sp>
          <p:nvSpPr>
            <p:cNvPr name="TextBox 26" id="26"/>
            <p:cNvSpPr txBox="true"/>
            <p:nvPr/>
          </p:nvSpPr>
          <p:spPr>
            <a:xfrm rot="0">
              <a:off x="571500" y="1803400"/>
              <a:ext cx="8255000" cy="454660"/>
            </a:xfrm>
            <a:prstGeom prst="rect">
              <a:avLst/>
            </a:prstGeom>
          </p:spPr>
          <p:txBody>
            <a:bodyPr anchor="t" rtlCol="false" tIns="0" lIns="0" bIns="0" rIns="0">
              <a:spAutoFit/>
            </a:bodyPr>
            <a:lstStyle/>
            <a:p>
              <a:pPr algn="l">
                <a:lnSpc>
                  <a:spcPts val="2835"/>
                </a:lnSpc>
              </a:pPr>
              <a:r>
                <a:rPr lang="en-US" sz="2100">
                  <a:solidFill>
                    <a:srgbClr val="64708A"/>
                  </a:solidFill>
                  <a:latin typeface="Aptos"/>
                  <a:ea typeface="Aptos"/>
                  <a:cs typeface="Aptos"/>
                  <a:sym typeface="Aptos"/>
                </a:rPr>
                <a:t>Linked lists &amp; external sorting</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0B132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FFFFFF"/>
                </a:solidFill>
                <a:latin typeface="League Spartan"/>
                <a:ea typeface="League Spartan"/>
                <a:cs typeface="League Spartan"/>
                <a:sym typeface="League Spartan"/>
              </a:rPr>
              <a:t>Merge Sort vs Quick Sort</a:t>
            </a:r>
          </a:p>
        </p:txBody>
      </p:sp>
      <p:grpSp>
        <p:nvGrpSpPr>
          <p:cNvPr name="Group 3" id="3"/>
          <p:cNvGrpSpPr/>
          <p:nvPr/>
        </p:nvGrpSpPr>
        <p:grpSpPr>
          <a:xfrm rot="0">
            <a:off x="1047750" y="1857375"/>
            <a:ext cx="16192500" cy="781050"/>
            <a:chOff x="0" y="0"/>
            <a:chExt cx="21590000" cy="1041400"/>
          </a:xfrm>
        </p:grpSpPr>
        <p:sp>
          <p:nvSpPr>
            <p:cNvPr name="Freeform 4" id="4"/>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35D0BA"/>
            </a:solidFill>
            <a:ln w="9525" cap="sq">
              <a:solidFill>
                <a:srgbClr val="64708A"/>
              </a:solidFill>
              <a:prstDash val="solid"/>
              <a:miter/>
            </a:ln>
          </p:spPr>
        </p:sp>
        <p:sp>
          <p:nvSpPr>
            <p:cNvPr name="TextBox 5" id="5"/>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238250" y="2057400"/>
            <a:ext cx="3810000" cy="306705"/>
          </a:xfrm>
          <a:prstGeom prst="rect">
            <a:avLst/>
          </a:prstGeom>
        </p:spPr>
        <p:txBody>
          <a:bodyPr anchor="t" rtlCol="false" tIns="0" lIns="0" bIns="0" rIns="0">
            <a:spAutoFit/>
          </a:bodyPr>
          <a:lstStyle/>
          <a:p>
            <a:pPr algn="l">
              <a:lnSpc>
                <a:spcPts val="2520"/>
              </a:lnSpc>
            </a:pPr>
            <a:r>
              <a:rPr lang="en-US" sz="1800" b="true">
                <a:solidFill>
                  <a:srgbClr val="0B132B"/>
                </a:solidFill>
                <a:latin typeface="Aptos Bold"/>
                <a:ea typeface="Aptos Bold"/>
                <a:cs typeface="Aptos Bold"/>
                <a:sym typeface="Aptos Bold"/>
              </a:rPr>
              <a:t>ATTRIBUTE</a:t>
            </a:r>
          </a:p>
        </p:txBody>
      </p:sp>
      <p:sp>
        <p:nvSpPr>
          <p:cNvPr name="TextBox 7" id="7"/>
          <p:cNvSpPr txBox="true"/>
          <p:nvPr/>
        </p:nvSpPr>
        <p:spPr>
          <a:xfrm rot="0">
            <a:off x="5715000" y="2057400"/>
            <a:ext cx="4476750" cy="306705"/>
          </a:xfrm>
          <a:prstGeom prst="rect">
            <a:avLst/>
          </a:prstGeom>
        </p:spPr>
        <p:txBody>
          <a:bodyPr anchor="t" rtlCol="false" tIns="0" lIns="0" bIns="0" rIns="0">
            <a:spAutoFit/>
          </a:bodyPr>
          <a:lstStyle/>
          <a:p>
            <a:pPr algn="l">
              <a:lnSpc>
                <a:spcPts val="2520"/>
              </a:lnSpc>
            </a:pPr>
            <a:r>
              <a:rPr lang="en-US" sz="1800" b="true">
                <a:solidFill>
                  <a:srgbClr val="0B132B"/>
                </a:solidFill>
                <a:latin typeface="Aptos Bold"/>
                <a:ea typeface="Aptos Bold"/>
                <a:cs typeface="Aptos Bold"/>
                <a:sym typeface="Aptos Bold"/>
              </a:rPr>
              <a:t>MERGE SORT</a:t>
            </a:r>
          </a:p>
        </p:txBody>
      </p:sp>
      <p:sp>
        <p:nvSpPr>
          <p:cNvPr name="TextBox 8" id="8"/>
          <p:cNvSpPr txBox="true"/>
          <p:nvPr/>
        </p:nvSpPr>
        <p:spPr>
          <a:xfrm rot="0">
            <a:off x="10763250" y="2057400"/>
            <a:ext cx="4953000" cy="306705"/>
          </a:xfrm>
          <a:prstGeom prst="rect">
            <a:avLst/>
          </a:prstGeom>
        </p:spPr>
        <p:txBody>
          <a:bodyPr anchor="t" rtlCol="false" tIns="0" lIns="0" bIns="0" rIns="0">
            <a:spAutoFit/>
          </a:bodyPr>
          <a:lstStyle/>
          <a:p>
            <a:pPr algn="l">
              <a:lnSpc>
                <a:spcPts val="2520"/>
              </a:lnSpc>
            </a:pPr>
            <a:r>
              <a:rPr lang="en-US" sz="1800" b="true">
                <a:solidFill>
                  <a:srgbClr val="0B132B"/>
                </a:solidFill>
                <a:latin typeface="Aptos Bold"/>
                <a:ea typeface="Aptos Bold"/>
                <a:cs typeface="Aptos Bold"/>
                <a:sym typeface="Aptos Bold"/>
              </a:rPr>
              <a:t>QUICK SORT</a:t>
            </a:r>
          </a:p>
        </p:txBody>
      </p:sp>
      <p:grpSp>
        <p:nvGrpSpPr>
          <p:cNvPr name="Group 9" id="9"/>
          <p:cNvGrpSpPr/>
          <p:nvPr/>
        </p:nvGrpSpPr>
        <p:grpSpPr>
          <a:xfrm rot="0">
            <a:off x="1047750" y="2838450"/>
            <a:ext cx="16192500" cy="781050"/>
            <a:chOff x="0" y="0"/>
            <a:chExt cx="21590000" cy="1041400"/>
          </a:xfrm>
        </p:grpSpPr>
        <p:sp>
          <p:nvSpPr>
            <p:cNvPr name="Freeform 10" id="10"/>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16213E"/>
            </a:solidFill>
            <a:ln w="9525" cap="sq">
              <a:solidFill>
                <a:srgbClr val="64708A"/>
              </a:solidFill>
              <a:prstDash val="solid"/>
              <a:miter/>
            </a:ln>
          </p:spPr>
        </p:sp>
        <p:sp>
          <p:nvSpPr>
            <p:cNvPr name="TextBox 11" id="11"/>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1238250" y="3038475"/>
            <a:ext cx="3810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Average time</a:t>
            </a:r>
          </a:p>
        </p:txBody>
      </p:sp>
      <p:sp>
        <p:nvSpPr>
          <p:cNvPr name="TextBox 13" id="13"/>
          <p:cNvSpPr txBox="true"/>
          <p:nvPr/>
        </p:nvSpPr>
        <p:spPr>
          <a:xfrm rot="0">
            <a:off x="5715000" y="3038475"/>
            <a:ext cx="447675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O(n log n)</a:t>
            </a:r>
          </a:p>
        </p:txBody>
      </p:sp>
      <p:sp>
        <p:nvSpPr>
          <p:cNvPr name="TextBox 14" id="14"/>
          <p:cNvSpPr txBox="true"/>
          <p:nvPr/>
        </p:nvSpPr>
        <p:spPr>
          <a:xfrm rot="0">
            <a:off x="10763250" y="3038475"/>
            <a:ext cx="4953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O(n log n)</a:t>
            </a:r>
          </a:p>
        </p:txBody>
      </p:sp>
      <p:grpSp>
        <p:nvGrpSpPr>
          <p:cNvPr name="Group 15" id="15"/>
          <p:cNvGrpSpPr/>
          <p:nvPr/>
        </p:nvGrpSpPr>
        <p:grpSpPr>
          <a:xfrm rot="0">
            <a:off x="1047750" y="3819525"/>
            <a:ext cx="16192500" cy="781050"/>
            <a:chOff x="0" y="0"/>
            <a:chExt cx="21590000" cy="1041400"/>
          </a:xfrm>
        </p:grpSpPr>
        <p:sp>
          <p:nvSpPr>
            <p:cNvPr name="Freeform 16" id="16"/>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0B132B"/>
            </a:solidFill>
            <a:ln w="9525" cap="sq">
              <a:solidFill>
                <a:srgbClr val="64708A"/>
              </a:solidFill>
              <a:prstDash val="solid"/>
              <a:miter/>
            </a:ln>
          </p:spPr>
        </p:sp>
        <p:sp>
          <p:nvSpPr>
            <p:cNvPr name="TextBox 17" id="17"/>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1238250" y="4019550"/>
            <a:ext cx="3810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Worst time</a:t>
            </a:r>
          </a:p>
        </p:txBody>
      </p:sp>
      <p:sp>
        <p:nvSpPr>
          <p:cNvPr name="TextBox 19" id="19"/>
          <p:cNvSpPr txBox="true"/>
          <p:nvPr/>
        </p:nvSpPr>
        <p:spPr>
          <a:xfrm rot="0">
            <a:off x="5715000" y="4019550"/>
            <a:ext cx="447675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O(n log n)</a:t>
            </a:r>
          </a:p>
        </p:txBody>
      </p:sp>
      <p:sp>
        <p:nvSpPr>
          <p:cNvPr name="TextBox 20" id="20"/>
          <p:cNvSpPr txBox="true"/>
          <p:nvPr/>
        </p:nvSpPr>
        <p:spPr>
          <a:xfrm rot="0">
            <a:off x="10763250" y="4019550"/>
            <a:ext cx="4953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O(n²)</a:t>
            </a:r>
          </a:p>
        </p:txBody>
      </p:sp>
      <p:grpSp>
        <p:nvGrpSpPr>
          <p:cNvPr name="Group 21" id="21"/>
          <p:cNvGrpSpPr/>
          <p:nvPr/>
        </p:nvGrpSpPr>
        <p:grpSpPr>
          <a:xfrm rot="0">
            <a:off x="1047750" y="4800600"/>
            <a:ext cx="16192500" cy="781050"/>
            <a:chOff x="0" y="0"/>
            <a:chExt cx="21590000" cy="1041400"/>
          </a:xfrm>
        </p:grpSpPr>
        <p:sp>
          <p:nvSpPr>
            <p:cNvPr name="Freeform 22" id="22"/>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16213E"/>
            </a:solidFill>
            <a:ln w="9525" cap="sq">
              <a:solidFill>
                <a:srgbClr val="64708A"/>
              </a:solidFill>
              <a:prstDash val="solid"/>
              <a:miter/>
            </a:ln>
          </p:spPr>
        </p:sp>
        <p:sp>
          <p:nvSpPr>
            <p:cNvPr name="TextBox 23" id="23"/>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24" id="24"/>
          <p:cNvSpPr txBox="true"/>
          <p:nvPr/>
        </p:nvSpPr>
        <p:spPr>
          <a:xfrm rot="0">
            <a:off x="1238250" y="5000625"/>
            <a:ext cx="3810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Extra space</a:t>
            </a:r>
          </a:p>
        </p:txBody>
      </p:sp>
      <p:sp>
        <p:nvSpPr>
          <p:cNvPr name="TextBox 25" id="25"/>
          <p:cNvSpPr txBox="true"/>
          <p:nvPr/>
        </p:nvSpPr>
        <p:spPr>
          <a:xfrm rot="0">
            <a:off x="5715000" y="5000625"/>
            <a:ext cx="447675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O(n)</a:t>
            </a:r>
          </a:p>
        </p:txBody>
      </p:sp>
      <p:sp>
        <p:nvSpPr>
          <p:cNvPr name="TextBox 26" id="26"/>
          <p:cNvSpPr txBox="true"/>
          <p:nvPr/>
        </p:nvSpPr>
        <p:spPr>
          <a:xfrm rot="0">
            <a:off x="10763250" y="5000625"/>
            <a:ext cx="4953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O(log n) avg.</a:t>
            </a:r>
          </a:p>
        </p:txBody>
      </p:sp>
      <p:grpSp>
        <p:nvGrpSpPr>
          <p:cNvPr name="Group 27" id="27"/>
          <p:cNvGrpSpPr/>
          <p:nvPr/>
        </p:nvGrpSpPr>
        <p:grpSpPr>
          <a:xfrm rot="0">
            <a:off x="1047750" y="5781675"/>
            <a:ext cx="16192500" cy="781050"/>
            <a:chOff x="0" y="0"/>
            <a:chExt cx="21590000" cy="1041400"/>
          </a:xfrm>
        </p:grpSpPr>
        <p:sp>
          <p:nvSpPr>
            <p:cNvPr name="Freeform 28" id="28"/>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0B132B"/>
            </a:solidFill>
            <a:ln w="9525" cap="sq">
              <a:solidFill>
                <a:srgbClr val="64708A"/>
              </a:solidFill>
              <a:prstDash val="solid"/>
              <a:miter/>
            </a:ln>
          </p:spPr>
        </p:sp>
        <p:sp>
          <p:nvSpPr>
            <p:cNvPr name="TextBox 29" id="29"/>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1238250" y="5981700"/>
            <a:ext cx="3810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Stable</a:t>
            </a:r>
          </a:p>
        </p:txBody>
      </p:sp>
      <p:sp>
        <p:nvSpPr>
          <p:cNvPr name="TextBox 31" id="31"/>
          <p:cNvSpPr txBox="true"/>
          <p:nvPr/>
        </p:nvSpPr>
        <p:spPr>
          <a:xfrm rot="0">
            <a:off x="5715000" y="5981700"/>
            <a:ext cx="447675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Yes</a:t>
            </a:r>
          </a:p>
        </p:txBody>
      </p:sp>
      <p:sp>
        <p:nvSpPr>
          <p:cNvPr name="TextBox 32" id="32"/>
          <p:cNvSpPr txBox="true"/>
          <p:nvPr/>
        </p:nvSpPr>
        <p:spPr>
          <a:xfrm rot="0">
            <a:off x="10763250" y="5981700"/>
            <a:ext cx="4953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No</a:t>
            </a:r>
          </a:p>
        </p:txBody>
      </p:sp>
      <p:grpSp>
        <p:nvGrpSpPr>
          <p:cNvPr name="Group 33" id="33"/>
          <p:cNvGrpSpPr/>
          <p:nvPr/>
        </p:nvGrpSpPr>
        <p:grpSpPr>
          <a:xfrm rot="0">
            <a:off x="1047750" y="6762750"/>
            <a:ext cx="16192500" cy="781050"/>
            <a:chOff x="0" y="0"/>
            <a:chExt cx="21590000" cy="1041400"/>
          </a:xfrm>
        </p:grpSpPr>
        <p:sp>
          <p:nvSpPr>
            <p:cNvPr name="Freeform 34" id="34"/>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16213E"/>
            </a:solidFill>
            <a:ln w="9525" cap="sq">
              <a:solidFill>
                <a:srgbClr val="64708A"/>
              </a:solidFill>
              <a:prstDash val="solid"/>
              <a:miter/>
            </a:ln>
          </p:spPr>
        </p:sp>
        <p:sp>
          <p:nvSpPr>
            <p:cNvPr name="TextBox 35" id="35"/>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36" id="36"/>
          <p:cNvSpPr txBox="true"/>
          <p:nvPr/>
        </p:nvSpPr>
        <p:spPr>
          <a:xfrm rot="0">
            <a:off x="1238250" y="6962775"/>
            <a:ext cx="3810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In-place</a:t>
            </a:r>
          </a:p>
        </p:txBody>
      </p:sp>
      <p:sp>
        <p:nvSpPr>
          <p:cNvPr name="TextBox 37" id="37"/>
          <p:cNvSpPr txBox="true"/>
          <p:nvPr/>
        </p:nvSpPr>
        <p:spPr>
          <a:xfrm rot="0">
            <a:off x="5715000" y="6962775"/>
            <a:ext cx="447675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No</a:t>
            </a:r>
          </a:p>
        </p:txBody>
      </p:sp>
      <p:sp>
        <p:nvSpPr>
          <p:cNvPr name="TextBox 38" id="38"/>
          <p:cNvSpPr txBox="true"/>
          <p:nvPr/>
        </p:nvSpPr>
        <p:spPr>
          <a:xfrm rot="0">
            <a:off x="10763250" y="6962775"/>
            <a:ext cx="4953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Typically yes</a:t>
            </a:r>
          </a:p>
        </p:txBody>
      </p:sp>
      <p:grpSp>
        <p:nvGrpSpPr>
          <p:cNvPr name="Group 39" id="39"/>
          <p:cNvGrpSpPr/>
          <p:nvPr/>
        </p:nvGrpSpPr>
        <p:grpSpPr>
          <a:xfrm rot="0">
            <a:off x="1047750" y="7743825"/>
            <a:ext cx="16192500" cy="781050"/>
            <a:chOff x="0" y="0"/>
            <a:chExt cx="21590000" cy="1041400"/>
          </a:xfrm>
        </p:grpSpPr>
        <p:sp>
          <p:nvSpPr>
            <p:cNvPr name="Freeform 40" id="40"/>
            <p:cNvSpPr/>
            <p:nvPr/>
          </p:nvSpPr>
          <p:spPr>
            <a:xfrm flipH="false" flipV="false" rot="0">
              <a:off x="0" y="0"/>
              <a:ext cx="21590000" cy="1041400"/>
            </a:xfrm>
            <a:custGeom>
              <a:avLst/>
              <a:gdLst/>
              <a:ahLst/>
              <a:cxnLst/>
              <a:rect r="r" b="b" t="t" l="l"/>
              <a:pathLst>
                <a:path h="1041400" w="21590000">
                  <a:moveTo>
                    <a:pt x="0" y="0"/>
                  </a:moveTo>
                  <a:lnTo>
                    <a:pt x="21590000" y="0"/>
                  </a:lnTo>
                  <a:lnTo>
                    <a:pt x="21590000" y="1041400"/>
                  </a:lnTo>
                  <a:lnTo>
                    <a:pt x="0" y="1041400"/>
                  </a:lnTo>
                  <a:close/>
                </a:path>
              </a:pathLst>
            </a:custGeom>
            <a:solidFill>
              <a:srgbClr val="0B132B"/>
            </a:solidFill>
            <a:ln w="9525" cap="sq">
              <a:solidFill>
                <a:srgbClr val="64708A"/>
              </a:solidFill>
              <a:prstDash val="solid"/>
              <a:miter/>
            </a:ln>
          </p:spPr>
        </p:sp>
        <p:sp>
          <p:nvSpPr>
            <p:cNvPr name="TextBox 41" id="41"/>
            <p:cNvSpPr txBox="true"/>
            <p:nvPr/>
          </p:nvSpPr>
          <p:spPr>
            <a:xfrm>
              <a:off x="0" y="-38100"/>
              <a:ext cx="21590000" cy="1079500"/>
            </a:xfrm>
            <a:prstGeom prst="rect">
              <a:avLst/>
            </a:prstGeom>
          </p:spPr>
          <p:txBody>
            <a:bodyPr anchor="ctr" rtlCol="false" tIns="50800" lIns="50800" bIns="50800" rIns="50800"/>
            <a:lstStyle/>
            <a:p>
              <a:pPr algn="l">
                <a:lnSpc>
                  <a:spcPts val="1679"/>
                </a:lnSpc>
              </a:pPr>
            </a:p>
          </p:txBody>
        </p:sp>
      </p:grpSp>
      <p:sp>
        <p:nvSpPr>
          <p:cNvPr name="TextBox 42" id="42"/>
          <p:cNvSpPr txBox="true"/>
          <p:nvPr/>
        </p:nvSpPr>
        <p:spPr>
          <a:xfrm rot="0">
            <a:off x="1238250" y="7943850"/>
            <a:ext cx="3810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Best fit</a:t>
            </a:r>
          </a:p>
        </p:txBody>
      </p:sp>
      <p:sp>
        <p:nvSpPr>
          <p:cNvPr name="TextBox 43" id="43"/>
          <p:cNvSpPr txBox="true"/>
          <p:nvPr/>
        </p:nvSpPr>
        <p:spPr>
          <a:xfrm rot="0">
            <a:off x="5715000" y="7943850"/>
            <a:ext cx="447675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Large / external data</a:t>
            </a:r>
          </a:p>
        </p:txBody>
      </p:sp>
      <p:sp>
        <p:nvSpPr>
          <p:cNvPr name="TextBox 44" id="44"/>
          <p:cNvSpPr txBox="true"/>
          <p:nvPr/>
        </p:nvSpPr>
        <p:spPr>
          <a:xfrm rot="0">
            <a:off x="10763250" y="7943850"/>
            <a:ext cx="4953000" cy="339090"/>
          </a:xfrm>
          <a:prstGeom prst="rect">
            <a:avLst/>
          </a:prstGeom>
        </p:spPr>
        <p:txBody>
          <a:bodyPr anchor="t" rtlCol="false" tIns="0" lIns="0" bIns="0" rIns="0">
            <a:spAutoFit/>
          </a:bodyPr>
          <a:lstStyle/>
          <a:p>
            <a:pPr algn="l">
              <a:lnSpc>
                <a:spcPts val="2835"/>
              </a:lnSpc>
            </a:pPr>
            <a:r>
              <a:rPr lang="en-US" sz="2025">
                <a:solidFill>
                  <a:srgbClr val="FFFFFF"/>
                </a:solidFill>
                <a:latin typeface="Aptos"/>
                <a:ea typeface="Aptos"/>
                <a:cs typeface="Aptos"/>
                <a:sym typeface="Aptos"/>
              </a:rPr>
              <a:t>Fast array sorting</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7FB"/>
        </a:solidFill>
      </p:bgPr>
    </p:bg>
    <p:spTree>
      <p:nvGrpSpPr>
        <p:cNvPr id="1" name=""/>
        <p:cNvGrpSpPr/>
        <p:nvPr/>
      </p:nvGrpSpPr>
      <p:grpSpPr>
        <a:xfrm>
          <a:off x="0" y="0"/>
          <a:ext cx="0" cy="0"/>
          <a:chOff x="0" y="0"/>
          <a:chExt cx="0" cy="0"/>
        </a:xfrm>
      </p:grpSpPr>
      <p:sp>
        <p:nvSpPr>
          <p:cNvPr name="TextBox 2" id="2"/>
          <p:cNvSpPr txBox="true"/>
          <p:nvPr/>
        </p:nvSpPr>
        <p:spPr>
          <a:xfrm rot="0">
            <a:off x="1047750" y="752475"/>
            <a:ext cx="14287500" cy="643128"/>
          </a:xfrm>
          <a:prstGeom prst="rect">
            <a:avLst/>
          </a:prstGeom>
        </p:spPr>
        <p:txBody>
          <a:bodyPr anchor="t" rtlCol="false" tIns="0" lIns="0" bIns="0" rIns="0">
            <a:spAutoFit/>
          </a:bodyPr>
          <a:lstStyle/>
          <a:p>
            <a:pPr algn="l">
              <a:lnSpc>
                <a:spcPts val="4896"/>
              </a:lnSpc>
            </a:pPr>
            <a:r>
              <a:rPr lang="en-US" sz="4800" b="true">
                <a:solidFill>
                  <a:srgbClr val="17233F"/>
                </a:solidFill>
                <a:latin typeface="League Spartan"/>
                <a:ea typeface="League Spartan"/>
                <a:cs typeface="League Spartan"/>
                <a:sym typeface="League Spartan"/>
              </a:rPr>
              <a:t>Trade-offs &amp; Applications</a:t>
            </a:r>
          </a:p>
        </p:txBody>
      </p:sp>
      <p:sp>
        <p:nvSpPr>
          <p:cNvPr name="TextBox 3" id="3"/>
          <p:cNvSpPr txBox="true"/>
          <p:nvPr/>
        </p:nvSpPr>
        <p:spPr>
          <a:xfrm rot="0">
            <a:off x="1047750" y="2228850"/>
            <a:ext cx="6667500" cy="299085"/>
          </a:xfrm>
          <a:prstGeom prst="rect">
            <a:avLst/>
          </a:prstGeom>
        </p:spPr>
        <p:txBody>
          <a:bodyPr anchor="t" rtlCol="false" tIns="0" lIns="0" bIns="0" rIns="0">
            <a:spAutoFit/>
          </a:bodyPr>
          <a:lstStyle/>
          <a:p>
            <a:pPr algn="l">
              <a:lnSpc>
                <a:spcPts val="2295"/>
              </a:lnSpc>
            </a:pPr>
            <a:r>
              <a:rPr lang="en-US" sz="2250" b="true">
                <a:solidFill>
                  <a:srgbClr val="35D0BA"/>
                </a:solidFill>
                <a:latin typeface="League Spartan"/>
                <a:ea typeface="League Spartan"/>
                <a:cs typeface="League Spartan"/>
                <a:sym typeface="League Spartan"/>
              </a:rPr>
              <a:t>ADVANTAGES</a:t>
            </a:r>
          </a:p>
        </p:txBody>
      </p:sp>
      <p:sp>
        <p:nvSpPr>
          <p:cNvPr name="TextBox 4" id="4"/>
          <p:cNvSpPr txBox="true"/>
          <p:nvPr/>
        </p:nvSpPr>
        <p:spPr>
          <a:xfrm rot="0">
            <a:off x="1047750" y="2914650"/>
            <a:ext cx="6572250" cy="1358265"/>
          </a:xfrm>
          <a:prstGeom prst="rect">
            <a:avLst/>
          </a:prstGeom>
        </p:spPr>
        <p:txBody>
          <a:bodyPr anchor="t" rtlCol="false" tIns="0" lIns="0" bIns="0" rIns="0">
            <a:spAutoFit/>
          </a:bodyPr>
          <a:lstStyle/>
          <a:p>
            <a:pPr algn="l">
              <a:lnSpc>
                <a:spcPts val="3645"/>
              </a:lnSpc>
            </a:pPr>
            <a:r>
              <a:rPr lang="en-US" sz="2700">
                <a:solidFill>
                  <a:srgbClr val="17233F"/>
                </a:solidFill>
                <a:latin typeface="Aptos"/>
                <a:ea typeface="Aptos"/>
                <a:cs typeface="Aptos"/>
                <a:sym typeface="Aptos"/>
              </a:rPr>
              <a:t>Predictable O(n log n)</a:t>
            </a:r>
          </a:p>
          <a:p>
            <a:pPr algn="l">
              <a:lnSpc>
                <a:spcPts val="3645"/>
              </a:lnSpc>
            </a:pPr>
            <a:r>
              <a:rPr lang="en-US" sz="2700">
                <a:solidFill>
                  <a:srgbClr val="17233F"/>
                </a:solidFill>
                <a:latin typeface="Aptos"/>
                <a:ea typeface="Aptos"/>
                <a:cs typeface="Aptos"/>
                <a:sym typeface="Aptos"/>
              </a:rPr>
              <a:t>Stable ordering</a:t>
            </a:r>
          </a:p>
          <a:p>
            <a:pPr algn="l">
              <a:lnSpc>
                <a:spcPts val="3645"/>
              </a:lnSpc>
            </a:pPr>
            <a:r>
              <a:rPr lang="en-US" sz="2700">
                <a:solidFill>
                  <a:srgbClr val="17233F"/>
                </a:solidFill>
                <a:latin typeface="Aptos"/>
                <a:ea typeface="Aptos"/>
                <a:cs typeface="Aptos"/>
                <a:sym typeface="Aptos"/>
              </a:rPr>
              <a:t>Strong on large datasets</a:t>
            </a:r>
          </a:p>
        </p:txBody>
      </p:sp>
      <p:sp>
        <p:nvSpPr>
          <p:cNvPr name="TextBox 5" id="5"/>
          <p:cNvSpPr txBox="true"/>
          <p:nvPr/>
        </p:nvSpPr>
        <p:spPr>
          <a:xfrm rot="0">
            <a:off x="8382000" y="2228850"/>
            <a:ext cx="6667500" cy="299085"/>
          </a:xfrm>
          <a:prstGeom prst="rect">
            <a:avLst/>
          </a:prstGeom>
        </p:spPr>
        <p:txBody>
          <a:bodyPr anchor="t" rtlCol="false" tIns="0" lIns="0" bIns="0" rIns="0">
            <a:spAutoFit/>
          </a:bodyPr>
          <a:lstStyle/>
          <a:p>
            <a:pPr algn="l">
              <a:lnSpc>
                <a:spcPts val="2295"/>
              </a:lnSpc>
            </a:pPr>
            <a:r>
              <a:rPr lang="en-US" sz="2250" b="true">
                <a:solidFill>
                  <a:srgbClr val="FF6B6B"/>
                </a:solidFill>
                <a:latin typeface="League Spartan"/>
                <a:ea typeface="League Spartan"/>
                <a:cs typeface="League Spartan"/>
                <a:sym typeface="League Spartan"/>
              </a:rPr>
              <a:t>DISADVANTAGES</a:t>
            </a:r>
          </a:p>
        </p:txBody>
      </p:sp>
      <p:sp>
        <p:nvSpPr>
          <p:cNvPr name="TextBox 6" id="6"/>
          <p:cNvSpPr txBox="true"/>
          <p:nvPr/>
        </p:nvSpPr>
        <p:spPr>
          <a:xfrm rot="0">
            <a:off x="8382000" y="2914650"/>
            <a:ext cx="6572250" cy="901065"/>
          </a:xfrm>
          <a:prstGeom prst="rect">
            <a:avLst/>
          </a:prstGeom>
        </p:spPr>
        <p:txBody>
          <a:bodyPr anchor="t" rtlCol="false" tIns="0" lIns="0" bIns="0" rIns="0">
            <a:spAutoFit/>
          </a:bodyPr>
          <a:lstStyle/>
          <a:p>
            <a:pPr algn="l">
              <a:lnSpc>
                <a:spcPts val="3645"/>
              </a:lnSpc>
            </a:pPr>
            <a:r>
              <a:rPr lang="en-US" sz="2700">
                <a:solidFill>
                  <a:srgbClr val="17233F"/>
                </a:solidFill>
                <a:latin typeface="Aptos"/>
                <a:ea typeface="Aptos"/>
                <a:cs typeface="Aptos"/>
                <a:sym typeface="Aptos"/>
              </a:rPr>
              <a:t>Needs O(n) extra space</a:t>
            </a:r>
          </a:p>
          <a:p>
            <a:pPr algn="l">
              <a:lnSpc>
                <a:spcPts val="3645"/>
              </a:lnSpc>
            </a:pPr>
            <a:r>
              <a:rPr lang="en-US" sz="2700">
                <a:solidFill>
                  <a:srgbClr val="17233F"/>
                </a:solidFill>
                <a:latin typeface="Aptos"/>
                <a:ea typeface="Aptos"/>
                <a:cs typeface="Aptos"/>
                <a:sym typeface="Aptos"/>
              </a:rPr>
              <a:t>Overhead on small datasets</a:t>
            </a:r>
          </a:p>
        </p:txBody>
      </p:sp>
      <p:grpSp>
        <p:nvGrpSpPr>
          <p:cNvPr name="Group 7" id="7"/>
          <p:cNvGrpSpPr/>
          <p:nvPr/>
        </p:nvGrpSpPr>
        <p:grpSpPr>
          <a:xfrm rot="0">
            <a:off x="1047750" y="7381875"/>
            <a:ext cx="16192500" cy="1428750"/>
            <a:chOff x="0" y="0"/>
            <a:chExt cx="21590000" cy="1905000"/>
          </a:xfrm>
        </p:grpSpPr>
        <p:sp>
          <p:nvSpPr>
            <p:cNvPr name="Freeform 8" id="8"/>
            <p:cNvSpPr/>
            <p:nvPr/>
          </p:nvSpPr>
          <p:spPr>
            <a:xfrm flipH="false" flipV="false" rot="0">
              <a:off x="0" y="0"/>
              <a:ext cx="21590000" cy="1905000"/>
            </a:xfrm>
            <a:custGeom>
              <a:avLst/>
              <a:gdLst/>
              <a:ahLst/>
              <a:cxnLst/>
              <a:rect r="r" b="b" t="t" l="l"/>
              <a:pathLst>
                <a:path h="1905000" w="21590000">
                  <a:moveTo>
                    <a:pt x="0" y="0"/>
                  </a:moveTo>
                  <a:lnTo>
                    <a:pt x="21590000" y="0"/>
                  </a:lnTo>
                  <a:lnTo>
                    <a:pt x="21590000" y="1905000"/>
                  </a:lnTo>
                  <a:lnTo>
                    <a:pt x="0" y="1905000"/>
                  </a:lnTo>
                  <a:close/>
                </a:path>
              </a:pathLst>
            </a:custGeom>
            <a:solidFill>
              <a:srgbClr val="16213E"/>
            </a:solidFill>
            <a:ln cap="sq">
              <a:noFill/>
              <a:prstDash val="solid"/>
              <a:miter/>
            </a:ln>
          </p:spPr>
        </p:sp>
        <p:sp>
          <p:nvSpPr>
            <p:cNvPr name="TextBox 9" id="9"/>
            <p:cNvSpPr txBox="true"/>
            <p:nvPr/>
          </p:nvSpPr>
          <p:spPr>
            <a:xfrm>
              <a:off x="0" y="-38100"/>
              <a:ext cx="21590000" cy="1943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524000" y="7858125"/>
            <a:ext cx="15240000" cy="356997"/>
          </a:xfrm>
          <a:prstGeom prst="rect">
            <a:avLst/>
          </a:prstGeom>
        </p:spPr>
        <p:txBody>
          <a:bodyPr anchor="t" rtlCol="false" tIns="0" lIns="0" bIns="0" rIns="0">
            <a:spAutoFit/>
          </a:bodyPr>
          <a:lstStyle/>
          <a:p>
            <a:pPr algn="ctr">
              <a:lnSpc>
                <a:spcPts val="2754"/>
              </a:lnSpc>
            </a:pPr>
            <a:r>
              <a:rPr lang="en-US" sz="2700" b="true">
                <a:solidFill>
                  <a:srgbClr val="FFFFFF"/>
                </a:solidFill>
                <a:latin typeface="League Spartan"/>
                <a:ea typeface="League Spartan"/>
                <a:cs typeface="League Spartan"/>
                <a:sym typeface="League Spartan"/>
              </a:rPr>
              <a:t>External sorting   •   Inversion counting   •   Linked-list sorting</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0B132B"/>
        </a:solidFill>
      </p:bgPr>
    </p:bg>
    <p:spTree>
      <p:nvGrpSpPr>
        <p:cNvPr id="1" name=""/>
        <p:cNvGrpSpPr/>
        <p:nvPr/>
      </p:nvGrpSpPr>
      <p:grpSpPr>
        <a:xfrm>
          <a:off x="0" y="0"/>
          <a:ext cx="0" cy="0"/>
          <a:chOff x="0" y="0"/>
          <a:chExt cx="0" cy="0"/>
        </a:xfrm>
      </p:grpSpPr>
      <p:grpSp>
        <p:nvGrpSpPr>
          <p:cNvPr name="Group 2" id="2"/>
          <p:cNvGrpSpPr/>
          <p:nvPr/>
        </p:nvGrpSpPr>
        <p:grpSpPr>
          <a:xfrm rot="0">
            <a:off x="11715750" y="1571625"/>
            <a:ext cx="5429250" cy="5429250"/>
            <a:chOff x="0" y="0"/>
            <a:chExt cx="7239000" cy="7239000"/>
          </a:xfrm>
        </p:grpSpPr>
        <p:sp>
          <p:nvSpPr>
            <p:cNvPr name="Freeform 3" id="3"/>
            <p:cNvSpPr/>
            <p:nvPr/>
          </p:nvSpPr>
          <p:spPr>
            <a:xfrm flipH="false" flipV="false" rot="0">
              <a:off x="0" y="0"/>
              <a:ext cx="7239000" cy="7239000"/>
            </a:xfrm>
            <a:custGeom>
              <a:avLst/>
              <a:gdLst/>
              <a:ahLst/>
              <a:cxnLst/>
              <a:rect r="r" b="b" t="t" l="l"/>
              <a:pathLst>
                <a:path h="7239000" w="7239000">
                  <a:moveTo>
                    <a:pt x="3619500" y="0"/>
                  </a:moveTo>
                  <a:cubicBezTo>
                    <a:pt x="5618495" y="0"/>
                    <a:pt x="7239000" y="1620505"/>
                    <a:pt x="7239000" y="3619500"/>
                  </a:cubicBezTo>
                  <a:cubicBezTo>
                    <a:pt x="7239000" y="5618495"/>
                    <a:pt x="5618495" y="7239000"/>
                    <a:pt x="3619500" y="7239000"/>
                  </a:cubicBezTo>
                  <a:cubicBezTo>
                    <a:pt x="1620505" y="7239000"/>
                    <a:pt x="0" y="5618495"/>
                    <a:pt x="0" y="3619500"/>
                  </a:cubicBezTo>
                  <a:cubicBezTo>
                    <a:pt x="0" y="1620505"/>
                    <a:pt x="1620505" y="0"/>
                    <a:pt x="3619500" y="0"/>
                  </a:cubicBezTo>
                  <a:close/>
                </a:path>
              </a:pathLst>
            </a:custGeom>
            <a:solidFill>
              <a:srgbClr val="FF6B6B"/>
            </a:solidFill>
            <a:ln cap="sq">
              <a:noFill/>
              <a:prstDash val="solid"/>
              <a:miter/>
            </a:ln>
          </p:spPr>
        </p:sp>
        <p:sp>
          <p:nvSpPr>
            <p:cNvPr name="TextBox 4" id="4"/>
            <p:cNvSpPr txBox="true"/>
            <p:nvPr/>
          </p:nvSpPr>
          <p:spPr>
            <a:xfrm>
              <a:off x="0" y="-38100"/>
              <a:ext cx="7239000" cy="7277100"/>
            </a:xfrm>
            <a:prstGeom prst="rect">
              <a:avLst/>
            </a:prstGeom>
          </p:spPr>
          <p:txBody>
            <a:bodyPr anchor="ctr" rtlCol="false" tIns="50800" lIns="50800" bIns="50800" rIns="50800"/>
            <a:lstStyle/>
            <a:p>
              <a:pPr algn="l">
                <a:lnSpc>
                  <a:spcPts val="1679"/>
                </a:lnSpc>
              </a:pPr>
            </a:p>
          </p:txBody>
        </p:sp>
      </p:grpSp>
      <p:sp>
        <p:nvSpPr>
          <p:cNvPr name="TextBox 5" id="5"/>
          <p:cNvSpPr txBox="true"/>
          <p:nvPr/>
        </p:nvSpPr>
        <p:spPr>
          <a:xfrm rot="0">
            <a:off x="1047750" y="1771650"/>
            <a:ext cx="10001250" cy="2377440"/>
          </a:xfrm>
          <a:prstGeom prst="rect">
            <a:avLst/>
          </a:prstGeom>
        </p:spPr>
        <p:txBody>
          <a:bodyPr anchor="t" rtlCol="false" tIns="0" lIns="0" bIns="0" rIns="0">
            <a:spAutoFit/>
          </a:bodyPr>
          <a:lstStyle/>
          <a:p>
            <a:pPr algn="l">
              <a:lnSpc>
                <a:spcPts val="9180"/>
              </a:lnSpc>
            </a:pPr>
            <a:r>
              <a:rPr lang="en-US" sz="9000" b="true">
                <a:solidFill>
                  <a:srgbClr val="FFFFFF"/>
                </a:solidFill>
                <a:latin typeface="League Spartan"/>
                <a:ea typeface="League Spartan"/>
                <a:cs typeface="League Spartan"/>
                <a:sym typeface="League Spartan"/>
              </a:rPr>
              <a:t>Divide. Conquer.</a:t>
            </a:r>
          </a:p>
          <a:p>
            <a:pPr algn="l">
              <a:lnSpc>
                <a:spcPts val="9180"/>
              </a:lnSpc>
            </a:pPr>
            <a:r>
              <a:rPr lang="en-US" sz="9000" b="true">
                <a:solidFill>
                  <a:srgbClr val="FFFFFF"/>
                </a:solidFill>
                <a:latin typeface="League Spartan"/>
                <a:ea typeface="League Spartan"/>
                <a:cs typeface="League Spartan"/>
                <a:sym typeface="League Spartan"/>
              </a:rPr>
              <a:t>Merge.</a:t>
            </a:r>
          </a:p>
        </p:txBody>
      </p:sp>
      <p:sp>
        <p:nvSpPr>
          <p:cNvPr name="TextBox 6" id="6"/>
          <p:cNvSpPr txBox="true"/>
          <p:nvPr/>
        </p:nvSpPr>
        <p:spPr>
          <a:xfrm rot="0">
            <a:off x="1143000" y="4819650"/>
            <a:ext cx="8572500" cy="469582"/>
          </a:xfrm>
          <a:prstGeom prst="rect">
            <a:avLst/>
          </a:prstGeom>
        </p:spPr>
        <p:txBody>
          <a:bodyPr anchor="t" rtlCol="false" tIns="0" lIns="0" bIns="0" rIns="0">
            <a:spAutoFit/>
          </a:bodyPr>
          <a:lstStyle/>
          <a:p>
            <a:pPr algn="l">
              <a:lnSpc>
                <a:spcPts val="3847"/>
              </a:lnSpc>
            </a:pPr>
            <a:r>
              <a:rPr lang="en-US" sz="2850">
                <a:solidFill>
                  <a:srgbClr val="35D0BA"/>
                </a:solidFill>
                <a:latin typeface="Aptos"/>
                <a:ea typeface="Aptos"/>
                <a:cs typeface="Aptos"/>
                <a:sym typeface="Aptos"/>
              </a:rPr>
              <a:t>Efficient • Stable • Reliable</a:t>
            </a:r>
          </a:p>
        </p:txBody>
      </p:sp>
      <p:sp>
        <p:nvSpPr>
          <p:cNvPr name="TextBox 7" id="7"/>
          <p:cNvSpPr txBox="true"/>
          <p:nvPr/>
        </p:nvSpPr>
        <p:spPr>
          <a:xfrm rot="0">
            <a:off x="11906250" y="2571750"/>
            <a:ext cx="4953000" cy="1501902"/>
          </a:xfrm>
          <a:prstGeom prst="rect">
            <a:avLst/>
          </a:prstGeom>
        </p:spPr>
        <p:txBody>
          <a:bodyPr anchor="t" rtlCol="false" tIns="0" lIns="0" bIns="0" rIns="0">
            <a:spAutoFit/>
          </a:bodyPr>
          <a:lstStyle/>
          <a:p>
            <a:pPr algn="ctr">
              <a:lnSpc>
                <a:spcPts val="5814"/>
              </a:lnSpc>
            </a:pPr>
            <a:r>
              <a:rPr lang="en-US" sz="5700" b="true">
                <a:solidFill>
                  <a:srgbClr val="FFFFFF"/>
                </a:solidFill>
                <a:latin typeface="League Spartan"/>
                <a:ea typeface="League Spartan"/>
                <a:cs typeface="League Spartan"/>
                <a:sym typeface="League Spartan"/>
              </a:rPr>
              <a:t>Thank you!</a:t>
            </a:r>
          </a:p>
          <a:p>
            <a:pPr algn="ctr">
              <a:lnSpc>
                <a:spcPts val="5814"/>
              </a:lnSpc>
            </a:pPr>
          </a:p>
        </p:txBody>
      </p:sp>
      <p:grpSp>
        <p:nvGrpSpPr>
          <p:cNvPr name="Group 8" id="8"/>
          <p:cNvGrpSpPr/>
          <p:nvPr/>
        </p:nvGrpSpPr>
        <p:grpSpPr>
          <a:xfrm rot="0">
            <a:off x="1047750" y="7239000"/>
            <a:ext cx="8858250" cy="76200"/>
            <a:chOff x="0" y="0"/>
            <a:chExt cx="11811000" cy="101600"/>
          </a:xfrm>
        </p:grpSpPr>
        <p:sp>
          <p:nvSpPr>
            <p:cNvPr name="Freeform 9" id="9"/>
            <p:cNvSpPr/>
            <p:nvPr/>
          </p:nvSpPr>
          <p:spPr>
            <a:xfrm flipH="false" flipV="false" rot="0">
              <a:off x="0" y="0"/>
              <a:ext cx="11811000" cy="101600"/>
            </a:xfrm>
            <a:custGeom>
              <a:avLst/>
              <a:gdLst/>
              <a:ahLst/>
              <a:cxnLst/>
              <a:rect r="r" b="b" t="t" l="l"/>
              <a:pathLst>
                <a:path h="101600" w="11811000">
                  <a:moveTo>
                    <a:pt x="0" y="0"/>
                  </a:moveTo>
                  <a:lnTo>
                    <a:pt x="11811000" y="0"/>
                  </a:lnTo>
                  <a:lnTo>
                    <a:pt x="11811000" y="101600"/>
                  </a:lnTo>
                  <a:lnTo>
                    <a:pt x="0" y="101600"/>
                  </a:lnTo>
                  <a:close/>
                </a:path>
              </a:pathLst>
            </a:custGeom>
            <a:solidFill>
              <a:srgbClr val="35D0BA"/>
            </a:solidFill>
            <a:ln cap="sq">
              <a:noFill/>
              <a:prstDash val="solid"/>
              <a:miter/>
            </a:ln>
          </p:spPr>
        </p:sp>
        <p:sp>
          <p:nvSpPr>
            <p:cNvPr name="TextBox 10" id="10"/>
            <p:cNvSpPr txBox="true"/>
            <p:nvPr/>
          </p:nvSpPr>
          <p:spPr>
            <a:xfrm>
              <a:off x="0" y="-38100"/>
              <a:ext cx="11811000" cy="139700"/>
            </a:xfrm>
            <a:prstGeom prst="rect">
              <a:avLst/>
            </a:prstGeom>
          </p:spPr>
          <p:txBody>
            <a:bodyPr anchor="ctr" rtlCol="false" tIns="50800" lIns="50800" bIns="50800" rIns="50800"/>
            <a:lstStyle/>
            <a:p>
              <a:pPr algn="l">
                <a:lnSpc>
                  <a:spcPts val="167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DAHYFt-9TNs</dc:identifier>
  <dcterms:modified xsi:type="dcterms:W3CDTF">2011-08-01T06:04:30Z</dcterms:modified>
  <cp:revision>1</cp:revision>
  <dc:title>Merge Sort DAA</dc:title>
</cp:coreProperties>
</file>